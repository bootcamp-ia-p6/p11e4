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77" autoAdjust="0"/>
  </p:normalViewPr>
  <p:slideViewPr>
    <p:cSldViewPr snapToGrid="0" snapToObjects="1">
      <p:cViewPr varScale="1">
        <p:scale>
          <a:sx n="59" d="100"/>
          <a:sy n="59" d="100"/>
        </p:scale>
        <p:origin x="2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67A4E-3D6A-47DC-9C9A-3ACB7E1A8D2A}" type="datetimeFigureOut">
              <a:rPr lang="es-ES" smtClean="0"/>
              <a:t>2026-06-27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826A-52AE-43E8-8AE8-791780DFF5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6861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0826A-52AE-43E8-8AE8-791780DFF56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8032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4752" y="72000"/>
            <a:ext cx="10182497" cy="907941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400" b="1" i="0" dirty="0" err="1">
                <a:solidFill>
                  <a:srgbClr val="1E5B4D"/>
                </a:solidFill>
                <a:latin typeface="Calibri"/>
              </a:rPr>
              <a:t>BrandVision</a:t>
            </a:r>
            <a:endParaRPr sz="5400" b="1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3921" y="1044000"/>
            <a:ext cx="10424159" cy="102682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0" i="0" dirty="0" err="1">
                <a:solidFill>
                  <a:srgbClr val="2C7A68"/>
                </a:solidFill>
                <a:latin typeface="Calibri"/>
              </a:rPr>
              <a:t>Detección</a:t>
            </a:r>
            <a:r>
              <a:rPr sz="3000" b="0" i="0" dirty="0">
                <a:solidFill>
                  <a:srgbClr val="2C7A68"/>
                </a:solidFill>
                <a:latin typeface="Calibri"/>
              </a:rPr>
              <a:t> y </a:t>
            </a:r>
            <a:r>
              <a:rPr sz="3000" b="0" i="0" dirty="0" err="1">
                <a:solidFill>
                  <a:srgbClr val="2C7A68"/>
                </a:solidFill>
                <a:latin typeface="Calibri"/>
              </a:rPr>
              <a:t>medición</a:t>
            </a:r>
            <a:r>
              <a:rPr sz="3000" b="0" i="0" dirty="0">
                <a:solidFill>
                  <a:srgbClr val="2C7A68"/>
                </a:solidFill>
                <a:latin typeface="Calibri"/>
              </a:rPr>
              <a:t> de </a:t>
            </a:r>
            <a:r>
              <a:rPr sz="3000" b="0" i="0" dirty="0" err="1">
                <a:solidFill>
                  <a:srgbClr val="2C7A68"/>
                </a:solidFill>
                <a:latin typeface="Calibri"/>
              </a:rPr>
              <a:t>presencia</a:t>
            </a:r>
            <a:r>
              <a:rPr sz="3000" b="0" i="0" dirty="0">
                <a:solidFill>
                  <a:srgbClr val="2C7A68"/>
                </a:solidFill>
                <a:latin typeface="Calibri"/>
              </a:rPr>
              <a:t> de </a:t>
            </a:r>
            <a:r>
              <a:rPr sz="3000" b="0" i="0" dirty="0" err="1">
                <a:solidFill>
                  <a:srgbClr val="2C7A68"/>
                </a:solidFill>
                <a:latin typeface="Calibri"/>
              </a:rPr>
              <a:t>marca</a:t>
            </a:r>
            <a:r>
              <a:rPr sz="3000" b="0" i="0" dirty="0">
                <a:solidFill>
                  <a:srgbClr val="2C7A68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C7A68"/>
                </a:solidFill>
                <a:latin typeface="Calibri"/>
              </a:rPr>
              <a:t>en</a:t>
            </a:r>
            <a:r>
              <a:rPr sz="3000" b="0" i="0" dirty="0">
                <a:solidFill>
                  <a:srgbClr val="2C7A68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C7A68"/>
                </a:solidFill>
                <a:latin typeface="Calibri"/>
              </a:rPr>
              <a:t>vídeo</a:t>
            </a:r>
            <a:r>
              <a:rPr sz="3000" b="0" i="0" dirty="0">
                <a:solidFill>
                  <a:srgbClr val="2C7A68"/>
                </a:solidFill>
                <a:latin typeface="Calibri"/>
              </a:rPr>
              <a:t> con </a:t>
            </a:r>
            <a:r>
              <a:rPr sz="3000" b="0" i="0" dirty="0" err="1">
                <a:solidFill>
                  <a:srgbClr val="2C7A68"/>
                </a:solidFill>
                <a:latin typeface="Calibri"/>
              </a:rPr>
              <a:t>visión</a:t>
            </a:r>
            <a:r>
              <a:rPr sz="3000" b="0" i="0" dirty="0">
                <a:solidFill>
                  <a:srgbClr val="2C7A68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C7A68"/>
                </a:solidFill>
                <a:latin typeface="Calibri"/>
              </a:rPr>
              <a:t>por</a:t>
            </a:r>
            <a:r>
              <a:rPr sz="3000" b="0" i="0" dirty="0">
                <a:solidFill>
                  <a:srgbClr val="2C7A68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C7A68"/>
                </a:solidFill>
                <a:latin typeface="Calibri"/>
              </a:rPr>
              <a:t>computador</a:t>
            </a:r>
            <a:endParaRPr sz="3000" b="0" i="0" dirty="0">
              <a:solidFill>
                <a:srgbClr val="2C7A68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41248" y="2697480"/>
            <a:ext cx="10424160" cy="640080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4148" y="2809771"/>
            <a:ext cx="9738360" cy="415498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 dirty="0">
                <a:solidFill>
                  <a:srgbClr val="1E5B4D"/>
                </a:solidFill>
                <a:latin typeface="Calibri"/>
              </a:rPr>
              <a:t>Equipo:  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Jose-Julio Ramírez · Camila Arenas · Iris Fernanda Amorim · Raúl Machaca</a:t>
            </a:r>
          </a:p>
        </p:txBody>
      </p:sp>
      <p:sp>
        <p:nvSpPr>
          <p:cNvPr id="5" name="Isosceles Triangle 4"/>
          <p:cNvSpPr/>
          <p:nvPr/>
        </p:nvSpPr>
        <p:spPr>
          <a:xfrm rot="5400000">
            <a:off x="972000" y="2944368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1248" y="3520440"/>
            <a:ext cx="10424160" cy="640080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4148" y="3632731"/>
            <a:ext cx="9738360" cy="415498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 dirty="0">
                <a:solidFill>
                  <a:srgbClr val="1E5B4D"/>
                </a:solidFill>
                <a:latin typeface="Calibri"/>
              </a:rPr>
              <a:t>Stack:  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Python 3.11 · YOLOv8 · OpenCV ·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Streamlit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· SQLite ·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uv</a:t>
            </a:r>
            <a:endParaRPr sz="2200" b="0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>
            <a:off x="972000" y="3767327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2000"/>
            <a:ext cx="11274552" cy="630942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600" b="1" i="0" dirty="0">
                <a:solidFill>
                  <a:srgbClr val="1E5B4D"/>
                </a:solidFill>
                <a:latin typeface="Calibri"/>
              </a:rPr>
              <a:t>El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problema</a:t>
            </a:r>
            <a:endParaRPr sz="3600" b="1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0" y="1554480"/>
            <a:ext cx="6035040" cy="1143000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 rot="5400000">
            <a:off x="5650992" y="2052828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89320" y="1579676"/>
            <a:ext cx="5349240" cy="1092607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 dirty="0" err="1">
                <a:solidFill>
                  <a:srgbClr val="1E5B4D"/>
                </a:solidFill>
                <a:latin typeface="Calibri"/>
              </a:rPr>
              <a:t>Medir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cuántos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segundos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y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qué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% de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pantalla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ocupa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un logo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en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vídeo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se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hace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hoy a mano: lento,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caro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y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subjetivo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880360"/>
            <a:ext cx="6035040" cy="960120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 rot="5400000">
            <a:off x="5650992" y="3287268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89320" y="2983393"/>
            <a:ext cx="5349240" cy="754053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 dirty="0">
                <a:solidFill>
                  <a:srgbClr val="1E5B4D"/>
                </a:solidFill>
                <a:latin typeface="Calibri"/>
              </a:rPr>
              <a:t>Lo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automatizamos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con un detector de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objetos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de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visión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por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computador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023360"/>
            <a:ext cx="6035040" cy="960120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 rot="5400000">
            <a:off x="5650992" y="4430268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89320" y="4080227"/>
            <a:ext cx="5349240" cy="846386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 dirty="0">
                <a:solidFill>
                  <a:srgbClr val="1E5B4D"/>
                </a:solidFill>
                <a:latin typeface="Calibri"/>
              </a:rPr>
              <a:t>Caso de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uso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: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medir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el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retorno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de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patrocinio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de </a:t>
            </a:r>
            <a:r>
              <a:rPr sz="2800" b="0" i="0" dirty="0">
                <a:solidFill>
                  <a:srgbClr val="1E5B4D"/>
                </a:solidFill>
                <a:latin typeface="Calibri"/>
              </a:rPr>
              <a:t>Nike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, </a:t>
            </a:r>
            <a:r>
              <a:rPr sz="2800" dirty="0">
                <a:solidFill>
                  <a:srgbClr val="1E5B4D"/>
                </a:solidFill>
                <a:latin typeface="Calibri"/>
              </a:rPr>
              <a:t>Adidas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y </a:t>
            </a:r>
            <a:r>
              <a:rPr sz="2800" dirty="0">
                <a:solidFill>
                  <a:srgbClr val="1E5B4D"/>
                </a:solidFill>
                <a:latin typeface="Calibri"/>
              </a:rPr>
              <a:t>Puma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4480560" cy="2228302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 i="0" dirty="0">
                <a:solidFill>
                  <a:srgbClr val="1E5B4D"/>
                </a:solidFill>
                <a:latin typeface="Calibri"/>
              </a:rPr>
              <a:t>De horas de </a:t>
            </a:r>
            <a:r>
              <a:rPr sz="4000" b="1" i="0" dirty="0" err="1">
                <a:solidFill>
                  <a:srgbClr val="1E5B4D"/>
                </a:solidFill>
                <a:latin typeface="Calibri"/>
              </a:rPr>
              <a:t>vídeo</a:t>
            </a:r>
            <a:endParaRPr sz="4000" b="1" i="0" dirty="0">
              <a:solidFill>
                <a:srgbClr val="1E5B4D"/>
              </a:solidFill>
              <a:latin typeface="Calibri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 i="0" dirty="0">
                <a:solidFill>
                  <a:srgbClr val="1E5B4D"/>
                </a:solidFill>
                <a:latin typeface="Calibri"/>
              </a:rPr>
              <a:t>a </a:t>
            </a:r>
            <a:r>
              <a:rPr sz="4000" b="1" i="0" dirty="0" err="1">
                <a:solidFill>
                  <a:srgbClr val="1E5B4D"/>
                </a:solidFill>
                <a:latin typeface="Calibri"/>
              </a:rPr>
              <a:t>datos</a:t>
            </a:r>
            <a:r>
              <a:rPr sz="4000" b="1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1E5B4D"/>
                </a:solidFill>
                <a:latin typeface="Calibri"/>
              </a:rPr>
              <a:t>objetivos</a:t>
            </a:r>
            <a:endParaRPr sz="4000" b="1" i="0" dirty="0">
              <a:solidFill>
                <a:srgbClr val="1E5B4D"/>
              </a:solidFill>
              <a:latin typeface="Calibri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 i="0" dirty="0" err="1">
                <a:solidFill>
                  <a:srgbClr val="E8761E"/>
                </a:solidFill>
                <a:latin typeface="Calibri"/>
              </a:rPr>
              <a:t>en</a:t>
            </a:r>
            <a:r>
              <a:rPr sz="4000" b="1" i="0" dirty="0">
                <a:solidFill>
                  <a:srgbClr val="E8761E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E8761E"/>
                </a:solidFill>
                <a:latin typeface="Calibri"/>
              </a:rPr>
              <a:t>minutos</a:t>
            </a:r>
            <a:r>
              <a:rPr sz="4000" b="1" i="0" dirty="0">
                <a:solidFill>
                  <a:srgbClr val="E8761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4000"/>
            <a:ext cx="11274552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 dirty="0" err="1">
                <a:solidFill>
                  <a:srgbClr val="1E5B4D"/>
                </a:solidFill>
                <a:latin typeface="Calibri"/>
              </a:rPr>
              <a:t>Arquitectura</a:t>
            </a:r>
            <a:r>
              <a:rPr sz="3600" b="1" i="0" dirty="0">
                <a:solidFill>
                  <a:srgbClr val="1E5B4D"/>
                </a:solidFill>
                <a:latin typeface="Calibri"/>
              </a:rPr>
              <a:t> del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sistema</a:t>
            </a:r>
            <a:r>
              <a:rPr sz="3600" b="1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BrandVision</a:t>
            </a:r>
            <a:endParaRPr sz="3600" b="1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120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2C7A68"/>
                </a:solidFill>
                <a:latin typeface="Calibri"/>
              </a:rPr>
              <a:t>Pipeline modular de 4 </a:t>
            </a:r>
            <a:r>
              <a:rPr sz="1800" b="0" i="0" dirty="0" err="1">
                <a:solidFill>
                  <a:srgbClr val="2C7A68"/>
                </a:solidFill>
                <a:latin typeface="Calibri"/>
              </a:rPr>
              <a:t>etapas</a:t>
            </a:r>
            <a:r>
              <a:rPr sz="1800" b="0" i="0" dirty="0">
                <a:solidFill>
                  <a:srgbClr val="2C7A68"/>
                </a:solidFill>
                <a:latin typeface="Calibri"/>
              </a:rPr>
              <a:t> — </a:t>
            </a:r>
            <a:r>
              <a:rPr sz="1800" b="0" i="0" dirty="0" err="1">
                <a:solidFill>
                  <a:srgbClr val="2C7A68"/>
                </a:solidFill>
                <a:latin typeface="Calibri"/>
              </a:rPr>
              <a:t>orquestado</a:t>
            </a:r>
            <a:r>
              <a:rPr sz="1800" b="0" i="0" dirty="0">
                <a:solidFill>
                  <a:srgbClr val="2C7A68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2C7A68"/>
                </a:solidFill>
                <a:latin typeface="Calibri"/>
              </a:rPr>
              <a:t>por</a:t>
            </a:r>
            <a:r>
              <a:rPr sz="1800" b="0" i="0" dirty="0">
                <a:solidFill>
                  <a:srgbClr val="2C7A68"/>
                </a:solidFill>
                <a:latin typeface="Calibri"/>
              </a:rPr>
              <a:t> run.py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D133DD9-B1AC-6B6F-B543-08BEB5F44E38}"/>
              </a:ext>
            </a:extLst>
          </p:cNvPr>
          <p:cNvGrpSpPr/>
          <p:nvPr/>
        </p:nvGrpSpPr>
        <p:grpSpPr>
          <a:xfrm>
            <a:off x="457200" y="1116000"/>
            <a:ext cx="11274551" cy="1463040"/>
            <a:chOff x="457200" y="2514600"/>
            <a:chExt cx="11274551" cy="146304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2514600"/>
              <a:ext cx="1627632" cy="1463040"/>
            </a:xfrm>
            <a:prstGeom prst="roundRect">
              <a:avLst/>
            </a:prstGeom>
            <a:solidFill>
              <a:srgbClr val="F6E3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3600" b="1" dirty="0">
                  <a:solidFill>
                    <a:srgbClr val="1E5B4D"/>
                  </a:solidFill>
                  <a:latin typeface="Calibri"/>
                </a:rPr>
                <a:t>VÍDEO</a:t>
              </a:r>
            </a:p>
            <a:p>
              <a:pPr algn="ctr"/>
              <a:r>
                <a:rPr sz="2800" b="0" dirty="0">
                  <a:solidFill>
                    <a:srgbClr val="2C7A68"/>
                  </a:solidFill>
                  <a:latin typeface="Calibri"/>
                </a:rPr>
                <a:t>.mp4</a:t>
              </a:r>
            </a:p>
          </p:txBody>
        </p:sp>
        <p:sp>
          <p:nvSpPr>
            <p:cNvPr id="5" name="Right Arrow 4"/>
            <p:cNvSpPr/>
            <p:nvPr/>
          </p:nvSpPr>
          <p:spPr>
            <a:xfrm>
              <a:off x="2103120" y="3090672"/>
              <a:ext cx="265176" cy="310896"/>
            </a:xfrm>
            <a:prstGeom prst="rightArrow">
              <a:avLst/>
            </a:prstGeom>
            <a:solidFill>
              <a:srgbClr val="E87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386584" y="2514600"/>
              <a:ext cx="1627632" cy="1463040"/>
            </a:xfrm>
            <a:prstGeom prst="roundRect">
              <a:avLst/>
            </a:prstGeom>
            <a:solidFill>
              <a:srgbClr val="FFFFFF"/>
            </a:solidFill>
            <a:ln w="28575">
              <a:solidFill>
                <a:srgbClr val="1E5B4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000" b="1" dirty="0">
                  <a:solidFill>
                    <a:srgbClr val="1E5B4D"/>
                  </a:solidFill>
                  <a:latin typeface="Calibri"/>
                </a:rPr>
                <a:t>[1] INFERENCIA</a:t>
              </a:r>
            </a:p>
            <a:p>
              <a:pPr algn="ctr"/>
              <a:r>
                <a:rPr sz="1600" b="0" dirty="0">
                  <a:solidFill>
                    <a:srgbClr val="2C7A68"/>
                  </a:solidFill>
                  <a:latin typeface="Calibri"/>
                </a:rPr>
                <a:t>YOLOv8</a:t>
              </a:r>
            </a:p>
            <a:p>
              <a:pPr algn="ctr"/>
              <a:r>
                <a:rPr sz="1600" b="0" dirty="0">
                  <a:solidFill>
                    <a:srgbClr val="2C7A68"/>
                  </a:solidFill>
                  <a:latin typeface="Calibri"/>
                </a:rPr>
                <a:t>frame a frame</a:t>
              </a:r>
            </a:p>
          </p:txBody>
        </p:sp>
        <p:sp>
          <p:nvSpPr>
            <p:cNvPr id="7" name="Right Arrow 6"/>
            <p:cNvSpPr/>
            <p:nvPr/>
          </p:nvSpPr>
          <p:spPr>
            <a:xfrm>
              <a:off x="4032503" y="3090672"/>
              <a:ext cx="265176" cy="310896"/>
            </a:xfrm>
            <a:prstGeom prst="rightArrow">
              <a:avLst/>
            </a:prstGeom>
            <a:solidFill>
              <a:srgbClr val="E87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315968" y="2514600"/>
              <a:ext cx="1627632" cy="1463040"/>
            </a:xfrm>
            <a:prstGeom prst="roundRect">
              <a:avLst/>
            </a:prstGeom>
            <a:solidFill>
              <a:srgbClr val="FFFFFF"/>
            </a:solidFill>
            <a:ln w="28575">
              <a:solidFill>
                <a:srgbClr val="1E5B4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400" b="1" dirty="0">
                  <a:solidFill>
                    <a:srgbClr val="1E5B4D"/>
                  </a:solidFill>
                  <a:latin typeface="Calibri"/>
                </a:rPr>
                <a:t>[2] TRACKER</a:t>
              </a:r>
            </a:p>
            <a:p>
              <a:pPr algn="ctr"/>
              <a:r>
                <a:rPr b="0" dirty="0" err="1">
                  <a:solidFill>
                    <a:srgbClr val="2C7A68"/>
                  </a:solidFill>
                  <a:latin typeface="Calibri"/>
                </a:rPr>
                <a:t>intervalos</a:t>
              </a:r>
              <a:endParaRPr b="0" dirty="0">
                <a:solidFill>
                  <a:srgbClr val="2C7A68"/>
                </a:solidFill>
                <a:latin typeface="Calibri"/>
              </a:endParaRPr>
            </a:p>
            <a:p>
              <a:pPr algn="ctr"/>
              <a:r>
                <a:rPr b="0" dirty="0" err="1">
                  <a:solidFill>
                    <a:srgbClr val="2C7A68"/>
                  </a:solidFill>
                  <a:latin typeface="Calibri"/>
                </a:rPr>
                <a:t>temporales</a:t>
              </a:r>
              <a:endParaRPr b="0" dirty="0">
                <a:solidFill>
                  <a:srgbClr val="2C7A68"/>
                </a:solidFill>
                <a:latin typeface="Calibri"/>
              </a:endParaRP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5961888" y="3090672"/>
              <a:ext cx="265176" cy="310896"/>
            </a:xfrm>
            <a:prstGeom prst="rightArrow">
              <a:avLst/>
            </a:prstGeom>
            <a:solidFill>
              <a:srgbClr val="E87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45352" y="2514600"/>
              <a:ext cx="1627632" cy="1463040"/>
            </a:xfrm>
            <a:prstGeom prst="roundRect">
              <a:avLst/>
            </a:prstGeom>
            <a:solidFill>
              <a:srgbClr val="FFFFFF"/>
            </a:solidFill>
            <a:ln w="28575">
              <a:solidFill>
                <a:srgbClr val="1E5B4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400" b="1" dirty="0">
                  <a:solidFill>
                    <a:srgbClr val="1E5B4D"/>
                  </a:solidFill>
                  <a:latin typeface="Calibri"/>
                </a:rPr>
                <a:t>[3] INFORME</a:t>
              </a:r>
            </a:p>
            <a:p>
              <a:pPr algn="ctr"/>
              <a:r>
                <a:rPr b="0" dirty="0" err="1">
                  <a:solidFill>
                    <a:srgbClr val="2C7A68"/>
                  </a:solidFill>
                  <a:latin typeface="Calibri"/>
                </a:rPr>
                <a:t>tiempos</a:t>
              </a:r>
              <a:r>
                <a:rPr b="0" dirty="0">
                  <a:solidFill>
                    <a:srgbClr val="2C7A68"/>
                  </a:solidFill>
                  <a:latin typeface="Calibri"/>
                </a:rPr>
                <a:t> y %</a:t>
              </a:r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7891271" y="3090672"/>
              <a:ext cx="265176" cy="310896"/>
            </a:xfrm>
            <a:prstGeom prst="rightArrow">
              <a:avLst/>
            </a:prstGeom>
            <a:solidFill>
              <a:srgbClr val="E87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74736" y="2514600"/>
              <a:ext cx="1627632" cy="1463040"/>
            </a:xfrm>
            <a:prstGeom prst="roundRect">
              <a:avLst/>
            </a:prstGeom>
            <a:solidFill>
              <a:srgbClr val="FFFFFF"/>
            </a:solidFill>
            <a:ln w="28575">
              <a:solidFill>
                <a:srgbClr val="1E5B4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400" b="1" dirty="0">
                  <a:solidFill>
                    <a:srgbClr val="1E5B4D"/>
                  </a:solidFill>
                  <a:latin typeface="Calibri"/>
                </a:rPr>
                <a:t>[4] BASE DE DATOS</a:t>
              </a:r>
            </a:p>
            <a:p>
              <a:pPr algn="ctr"/>
              <a:r>
                <a:rPr b="0" dirty="0">
                  <a:solidFill>
                    <a:srgbClr val="2C7A68"/>
                  </a:solidFill>
                  <a:latin typeface="Calibri"/>
                </a:rPr>
                <a:t>SQLite</a:t>
              </a: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9820655" y="3090672"/>
              <a:ext cx="265176" cy="310896"/>
            </a:xfrm>
            <a:prstGeom prst="rightArrow">
              <a:avLst/>
            </a:prstGeom>
            <a:solidFill>
              <a:srgbClr val="E87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104119" y="2514600"/>
              <a:ext cx="1627632" cy="1463040"/>
            </a:xfrm>
            <a:prstGeom prst="roundRect">
              <a:avLst/>
            </a:prstGeom>
            <a:solidFill>
              <a:srgbClr val="F6E3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400" b="1" dirty="0">
                  <a:solidFill>
                    <a:srgbClr val="1E5B4D"/>
                  </a:solidFill>
                  <a:latin typeface="Calibri"/>
                </a:rPr>
                <a:t>FRONTEND</a:t>
              </a:r>
            </a:p>
            <a:p>
              <a:pPr algn="ctr"/>
              <a:r>
                <a:rPr b="0" dirty="0" err="1">
                  <a:solidFill>
                    <a:srgbClr val="2C7A68"/>
                  </a:solidFill>
                  <a:latin typeface="Calibri"/>
                </a:rPr>
                <a:t>Streamlit</a:t>
              </a:r>
              <a:endParaRPr b="0" dirty="0">
                <a:solidFill>
                  <a:srgbClr val="2C7A68"/>
                </a:solidFill>
                <a:latin typeface="Calibri"/>
              </a:endParaRPr>
            </a:p>
          </p:txBody>
        </p:sp>
      </p:grpSp>
      <p:sp>
        <p:nvSpPr>
          <p:cNvPr id="15" name="Rounded Rectangle 14"/>
          <p:cNvSpPr>
            <a:spLocks/>
          </p:cNvSpPr>
          <p:nvPr/>
        </p:nvSpPr>
        <p:spPr>
          <a:xfrm>
            <a:off x="457200" y="2772000"/>
            <a:ext cx="11275200" cy="658368"/>
          </a:xfrm>
          <a:prstGeom prst="roundRect">
            <a:avLst/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0" dirty="0">
                <a:solidFill>
                  <a:srgbClr val="1E5B4D"/>
                </a:solidFill>
                <a:latin typeface="Calibri"/>
              </a:rPr>
              <a:t>Entre </a:t>
            </a:r>
            <a:r>
              <a:rPr sz="2000" b="0" dirty="0" err="1">
                <a:solidFill>
                  <a:srgbClr val="1E5B4D"/>
                </a:solidFill>
                <a:latin typeface="Calibri"/>
              </a:rPr>
              <a:t>etapas</a:t>
            </a:r>
            <a:r>
              <a:rPr sz="2000" b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5B4D"/>
                </a:solidFill>
                <a:latin typeface="Calibri"/>
              </a:rPr>
              <a:t>viaja</a:t>
            </a:r>
            <a:r>
              <a:rPr sz="2000" b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5B4D"/>
                </a:solidFill>
                <a:latin typeface="Calibri"/>
              </a:rPr>
              <a:t>una</a:t>
            </a:r>
            <a:r>
              <a:rPr sz="2000" b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5B4D"/>
                </a:solidFill>
                <a:latin typeface="Calibri"/>
              </a:rPr>
              <a:t>estructura</a:t>
            </a:r>
            <a:r>
              <a:rPr sz="2000" b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000" b="1" dirty="0">
                <a:solidFill>
                  <a:srgbClr val="1E5B4D"/>
                </a:solidFill>
                <a:latin typeface="Calibri"/>
              </a:rPr>
              <a:t>Detection(frame, timestamp, </a:t>
            </a:r>
            <a:r>
              <a:rPr sz="2000" b="1" dirty="0" err="1">
                <a:solidFill>
                  <a:srgbClr val="1E5B4D"/>
                </a:solidFill>
                <a:latin typeface="Calibri"/>
              </a:rPr>
              <a:t>clase</a:t>
            </a:r>
            <a:r>
              <a:rPr sz="2000" b="1" dirty="0">
                <a:solidFill>
                  <a:srgbClr val="1E5B4D"/>
                </a:solidFill>
                <a:latin typeface="Calibri"/>
              </a:rPr>
              <a:t>, confianza, </a:t>
            </a:r>
            <a:r>
              <a:rPr sz="2000" b="1" dirty="0" err="1">
                <a:solidFill>
                  <a:srgbClr val="1E5B4D"/>
                </a:solidFill>
                <a:latin typeface="Calibri"/>
              </a:rPr>
              <a:t>bbox</a:t>
            </a:r>
            <a:r>
              <a:rPr sz="2000" b="1" dirty="0">
                <a:solidFill>
                  <a:srgbClr val="1E5B4D"/>
                </a:solidFill>
                <a:latin typeface="Calibri"/>
              </a:rPr>
              <a:t>)</a:t>
            </a: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5677A512-DBF6-0F7C-2B6D-CB76FF37839F}"/>
              </a:ext>
            </a:extLst>
          </p:cNvPr>
          <p:cNvSpPr txBox="1"/>
          <p:nvPr/>
        </p:nvSpPr>
        <p:spPr>
          <a:xfrm>
            <a:off x="457200" y="3600000"/>
            <a:ext cx="11275200" cy="3093154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r>
              <a:rPr sz="2800" b="0" i="0" dirty="0">
                <a:solidFill>
                  <a:srgbClr val="2B2B2B"/>
                </a:solidFill>
                <a:latin typeface="Calibri"/>
              </a:rPr>
              <a:t>Pipeline modular de 4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etapas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orquestado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por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run.py:
1 ·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Inferencia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YOLOv8 frame a frame
2 · Tracker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que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agrupa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detecciones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en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el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tiempo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
3 · Informe de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tiempos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y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porcentajes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
4 ·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Persistencia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en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SQLite → frontend
Cada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etapa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es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independiente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y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testeable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. Entre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ellas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viaja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una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estructura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Detection (frame, timestamp,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clase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, confianza,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bbox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2000"/>
            <a:ext cx="11274552" cy="384721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600" b="1" i="0" dirty="0">
                <a:solidFill>
                  <a:srgbClr val="1E5B4D"/>
                </a:solidFill>
                <a:latin typeface="Calibri"/>
              </a:rPr>
              <a:t>El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modelo</a:t>
            </a:r>
            <a:r>
              <a:rPr sz="3600" b="1" i="0" dirty="0">
                <a:solidFill>
                  <a:srgbClr val="1E5B4D"/>
                </a:solidFill>
                <a:latin typeface="Calibri"/>
              </a:rPr>
              <a:t>: YOLOv8n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8420" y="792000"/>
            <a:ext cx="5040000" cy="5678478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/>
            <a:r>
              <a:rPr sz="2800" b="0" i="0" dirty="0">
                <a:solidFill>
                  <a:srgbClr val="2B2B2B"/>
                </a:solidFill>
                <a:latin typeface="Calibri"/>
              </a:rPr>
              <a:t>YOLOv8n (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versión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nano, ~3M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parámetros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). Transfer learning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desde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pesos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preentrenados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; le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enseñamos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3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clases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con dataset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propio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etiquetado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en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Roboflow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.</a:t>
            </a:r>
            <a:endParaRPr lang="es-ES" sz="2800" b="0" i="0" dirty="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2800" b="0" i="0" dirty="0">
                <a:solidFill>
                  <a:srgbClr val="2B2B2B"/>
                </a:solidFill>
                <a:latin typeface="Calibri"/>
              </a:rPr>
              <a:t>
Data augmentation: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volteo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horizontal,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rotación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±15°,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variación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HSV y mosaic.</a:t>
            </a:r>
            <a:endParaRPr lang="es-ES" sz="2800" b="0" i="0" dirty="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2800" b="0" i="0" dirty="0">
                <a:solidFill>
                  <a:srgbClr val="2B2B2B"/>
                </a:solidFill>
                <a:latin typeface="Calibri"/>
              </a:rPr>
              <a:t>
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Entrenamiento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: 50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épocas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· 640 </a:t>
            </a:r>
            <a:r>
              <a:rPr sz="2800" b="0" i="0" dirty="0" err="1">
                <a:solidFill>
                  <a:srgbClr val="2B2B2B"/>
                </a:solidFill>
                <a:latin typeface="Calibri"/>
              </a:rPr>
              <a:t>px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· batch 16 · early stopping (patience 20).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91420" y="792000"/>
            <a:ext cx="5852160" cy="836832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0" i="0" dirty="0" err="1">
                <a:solidFill>
                  <a:srgbClr val="6B7280"/>
                </a:solidFill>
                <a:latin typeface="Calibri"/>
              </a:rPr>
              <a:t>Validación</a:t>
            </a:r>
            <a:r>
              <a:rPr sz="2400" b="0" i="0" dirty="0">
                <a:solidFill>
                  <a:srgbClr val="6B7280"/>
                </a:solidFill>
                <a:latin typeface="Calibri"/>
              </a:rPr>
              <a:t> · 165 </a:t>
            </a:r>
            <a:r>
              <a:rPr sz="2400" b="0" i="0" dirty="0" err="1">
                <a:solidFill>
                  <a:srgbClr val="6B7280"/>
                </a:solidFill>
                <a:latin typeface="Calibri"/>
              </a:rPr>
              <a:t>imágenes</a:t>
            </a:r>
            <a:r>
              <a:rPr sz="2400" b="0" i="0" dirty="0">
                <a:solidFill>
                  <a:srgbClr val="6B7280"/>
                </a:solidFill>
                <a:latin typeface="Calibri"/>
              </a:rPr>
              <a:t> · 191 logos · umbral 0.40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36D589DC-AE4A-D876-B3CA-582A5F670447}"/>
              </a:ext>
            </a:extLst>
          </p:cNvPr>
          <p:cNvGrpSpPr/>
          <p:nvPr/>
        </p:nvGrpSpPr>
        <p:grpSpPr>
          <a:xfrm>
            <a:off x="5991420" y="1392894"/>
            <a:ext cx="5742432" cy="1143000"/>
            <a:chOff x="5991420" y="1294920"/>
            <a:chExt cx="5742432" cy="1143000"/>
          </a:xfrm>
        </p:grpSpPr>
        <p:sp>
          <p:nvSpPr>
            <p:cNvPr id="5" name="Rounded Rectangle 4"/>
            <p:cNvSpPr/>
            <p:nvPr/>
          </p:nvSpPr>
          <p:spPr>
            <a:xfrm>
              <a:off x="5991420" y="1294920"/>
              <a:ext cx="1353312" cy="1143000"/>
            </a:xfrm>
            <a:prstGeom prst="roundRect">
              <a:avLst>
                <a:gd name="adj" fmla="val 14000"/>
              </a:avLst>
            </a:prstGeom>
            <a:solidFill>
              <a:srgbClr val="F4F6F8"/>
            </a:solidFill>
            <a:ln w="19050">
              <a:solidFill>
                <a:srgbClr val="2E6F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991420" y="1525458"/>
              <a:ext cx="1353312" cy="387029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ctr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 dirty="0">
                  <a:solidFill>
                    <a:srgbClr val="2E6FE0"/>
                  </a:solidFill>
                  <a:latin typeface="Calibri"/>
                </a:rPr>
                <a:t>0.91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991420" y="1957860"/>
              <a:ext cx="1353312" cy="449034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>
              <a:defPPr>
                <a:defRPr lang="en-US"/>
              </a:defPPr>
              <a:lvl1pPr algn="ctr">
                <a:lnSpc>
                  <a:spcPct val="105000"/>
                </a:lnSpc>
                <a:spcAft>
                  <a:spcPts val="600"/>
                </a:spcAft>
                <a:defRPr sz="2000" b="0" i="0">
                  <a:solidFill>
                    <a:srgbClr val="6B7280"/>
                  </a:solidFill>
                  <a:latin typeface="Calibri"/>
                </a:defRPr>
              </a:lvl1pPr>
            </a:lstStyle>
            <a:p>
              <a:r>
                <a:rPr sz="2400" dirty="0"/>
                <a:t>mAP@50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454460" y="1294920"/>
              <a:ext cx="1353312" cy="1143000"/>
            </a:xfrm>
            <a:prstGeom prst="roundRect">
              <a:avLst>
                <a:gd name="adj" fmla="val 14000"/>
              </a:avLst>
            </a:prstGeom>
            <a:solidFill>
              <a:srgbClr val="F4F6F8"/>
            </a:solidFill>
            <a:ln w="19050">
              <a:solidFill>
                <a:srgbClr val="1E7A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54460" y="1351287"/>
              <a:ext cx="1353312" cy="387029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ctr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 dirty="0">
                  <a:solidFill>
                    <a:srgbClr val="1E7A40"/>
                  </a:solidFill>
                  <a:latin typeface="Calibri"/>
                </a:rPr>
                <a:t>0.63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65348" y="1718000"/>
              <a:ext cx="1353312" cy="710194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>
              <a:defPPr>
                <a:defRPr lang="en-US"/>
              </a:defPPr>
              <a:lvl1pPr algn="ctr">
                <a:lnSpc>
                  <a:spcPct val="105000"/>
                </a:lnSpc>
                <a:spcAft>
                  <a:spcPts val="600"/>
                </a:spcAft>
                <a:defRPr sz="2000" b="0" i="0">
                  <a:solidFill>
                    <a:srgbClr val="6B7280"/>
                  </a:solidFill>
                  <a:latin typeface="Calibri"/>
                </a:defRPr>
              </a:lvl1pPr>
            </a:lstStyle>
            <a:p>
              <a:r>
                <a:rPr dirty="0"/>
                <a:t>mAP@50-95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17500" y="1294920"/>
              <a:ext cx="1353312" cy="1143000"/>
            </a:xfrm>
            <a:prstGeom prst="roundRect">
              <a:avLst>
                <a:gd name="adj" fmla="val 14000"/>
              </a:avLst>
            </a:prstGeom>
            <a:solidFill>
              <a:srgbClr val="F4F6F8"/>
            </a:solidFill>
            <a:ln w="19050">
              <a:solidFill>
                <a:srgbClr val="E8761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917500" y="1525458"/>
              <a:ext cx="1353312" cy="387029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ctr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>
                  <a:solidFill>
                    <a:srgbClr val="E8761E"/>
                  </a:solidFill>
                  <a:latin typeface="Calibri"/>
                </a:rPr>
                <a:t>0.86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917500" y="1957860"/>
              <a:ext cx="1353312" cy="387029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>
              <a:defPPr>
                <a:defRPr lang="en-US"/>
              </a:defPPr>
              <a:lvl1pPr algn="ctr">
                <a:lnSpc>
                  <a:spcPct val="105000"/>
                </a:lnSpc>
                <a:spcAft>
                  <a:spcPts val="600"/>
                </a:spcAft>
                <a:defRPr sz="2000" b="0" i="0">
                  <a:solidFill>
                    <a:srgbClr val="6B7280"/>
                  </a:solidFill>
                  <a:latin typeface="Calibri"/>
                </a:defRPr>
              </a:lvl1pPr>
            </a:lstStyle>
            <a:p>
              <a:r>
                <a:rPr dirty="0" err="1"/>
                <a:t>Precisión</a:t>
              </a:r>
              <a:endParaRPr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380540" y="1294920"/>
              <a:ext cx="1353312" cy="1143000"/>
            </a:xfrm>
            <a:prstGeom prst="roundRect">
              <a:avLst>
                <a:gd name="adj" fmla="val 14000"/>
              </a:avLst>
            </a:prstGeom>
            <a:solidFill>
              <a:srgbClr val="F4F6F8"/>
            </a:solidFill>
            <a:ln w="19050">
              <a:solidFill>
                <a:srgbClr val="5B63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380540" y="1525458"/>
              <a:ext cx="1353312" cy="387029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ctr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>
                  <a:solidFill>
                    <a:srgbClr val="5B636B"/>
                  </a:solidFill>
                  <a:latin typeface="Calibri"/>
                </a:rPr>
                <a:t>0.91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380540" y="1957860"/>
              <a:ext cx="1353312" cy="387029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ctr">
                <a:lnSpc>
                  <a:spcPct val="105000"/>
                </a:lnSpc>
                <a:spcAft>
                  <a:spcPts val="600"/>
                </a:spcAft>
              </a:pPr>
              <a:r>
                <a:rPr sz="2000" b="0" i="0">
                  <a:solidFill>
                    <a:srgbClr val="6B7280"/>
                  </a:solidFill>
                  <a:latin typeface="Calibri"/>
                </a:rPr>
                <a:t>Recall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991420" y="2666520"/>
            <a:ext cx="5852160" cy="573106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200" b="1" i="0" dirty="0" err="1">
                <a:solidFill>
                  <a:srgbClr val="1E5B4D"/>
                </a:solidFill>
                <a:latin typeface="Calibri"/>
              </a:rPr>
              <a:t>Detalle</a:t>
            </a:r>
            <a:r>
              <a:rPr sz="3200" b="1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1E5B4D"/>
                </a:solidFill>
                <a:latin typeface="Calibri"/>
              </a:rPr>
              <a:t>por</a:t>
            </a:r>
            <a:r>
              <a:rPr sz="3200" b="1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1E5B4D"/>
                </a:solidFill>
                <a:latin typeface="Calibri"/>
              </a:rPr>
              <a:t>marca</a:t>
            </a:r>
            <a:r>
              <a:rPr sz="3200" b="1" i="0" dirty="0">
                <a:solidFill>
                  <a:srgbClr val="1E5B4D"/>
                </a:solidFill>
                <a:latin typeface="Calibri"/>
              </a:rPr>
              <a:t> (mAP@50)</a:t>
            </a:r>
            <a:endParaRPr sz="1800" b="1" i="0" dirty="0">
              <a:solidFill>
                <a:srgbClr val="1E5B4D"/>
              </a:solidFill>
              <a:latin typeface="Calibri"/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0BDDEB21-E137-2B81-8B2E-B8A034001588}"/>
              </a:ext>
            </a:extLst>
          </p:cNvPr>
          <p:cNvGrpSpPr/>
          <p:nvPr/>
        </p:nvGrpSpPr>
        <p:grpSpPr>
          <a:xfrm>
            <a:off x="5991420" y="3532691"/>
            <a:ext cx="5852160" cy="2100854"/>
            <a:chOff x="5991420" y="2974691"/>
            <a:chExt cx="5852160" cy="2100854"/>
          </a:xfrm>
        </p:grpSpPr>
        <p:sp>
          <p:nvSpPr>
            <p:cNvPr id="18" name="Rounded Rectangle 17"/>
            <p:cNvSpPr/>
            <p:nvPr/>
          </p:nvSpPr>
          <p:spPr>
            <a:xfrm>
              <a:off x="5991420" y="3078000"/>
              <a:ext cx="5852160" cy="566928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 w="15240">
              <a:solidFill>
                <a:srgbClr val="2E6F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20020" y="3152432"/>
              <a:ext cx="1638604" cy="418063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1" i="0" dirty="0">
                  <a:solidFill>
                    <a:srgbClr val="2E6FE0"/>
                  </a:solidFill>
                  <a:latin typeface="Calibri"/>
                </a:rPr>
                <a:t>ADIDAS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00000" y="3186000"/>
              <a:ext cx="2340864" cy="418063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>
              <a:defPPr>
                <a:defRPr lang="en-US"/>
              </a:defPPr>
              <a:lvl1pPr algn="ctr">
                <a:lnSpc>
                  <a:spcPct val="105000"/>
                </a:lnSpc>
                <a:spcAft>
                  <a:spcPts val="600"/>
                </a:spcAft>
                <a:defRPr sz="2000" b="0" i="0">
                  <a:solidFill>
                    <a:srgbClr val="6B7280"/>
                  </a:solidFill>
                  <a:latin typeface="Calibri"/>
                </a:defRPr>
              </a:lvl1pPr>
            </a:lstStyle>
            <a:p>
              <a:r>
                <a:rPr sz="2200" dirty="0"/>
                <a:t>mAP@50 = 0.94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576000" y="2974691"/>
              <a:ext cx="1872000" cy="773545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r">
                <a:lnSpc>
                  <a:spcPct val="105000"/>
                </a:lnSpc>
                <a:spcAft>
                  <a:spcPts val="600"/>
                </a:spcAft>
              </a:pPr>
              <a:r>
                <a:rPr sz="2200" b="0" i="0" dirty="0">
                  <a:solidFill>
                    <a:srgbClr val="6B7280"/>
                  </a:solidFill>
                  <a:latin typeface="Calibri"/>
                </a:rPr>
                <a:t>P 0.77 · R 0.95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991420" y="3754656"/>
              <a:ext cx="5852160" cy="566928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 w="15240">
              <a:solidFill>
                <a:srgbClr val="E8761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20020" y="3829088"/>
              <a:ext cx="1638604" cy="418063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1" i="0" dirty="0">
                  <a:solidFill>
                    <a:srgbClr val="E8761E"/>
                  </a:solidFill>
                  <a:latin typeface="Calibri"/>
                </a:rPr>
                <a:t>PUMA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00000" y="3834000"/>
              <a:ext cx="2340864" cy="418063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>
              <a:defPPr>
                <a:defRPr lang="en-US"/>
              </a:defPPr>
              <a:lvl1pPr algn="ctr">
                <a:lnSpc>
                  <a:spcPct val="105000"/>
                </a:lnSpc>
                <a:spcAft>
                  <a:spcPts val="600"/>
                </a:spcAft>
                <a:defRPr sz="2000" b="0" i="0">
                  <a:solidFill>
                    <a:srgbClr val="6B7280"/>
                  </a:solidFill>
                  <a:latin typeface="Calibri"/>
                </a:defRPr>
              </a:lvl1pPr>
            </a:lstStyle>
            <a:p>
              <a:r>
                <a:rPr sz="2200" dirty="0"/>
                <a:t>mAP@50 = 0.91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576000" y="3651347"/>
              <a:ext cx="1872000" cy="773545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r">
                <a:lnSpc>
                  <a:spcPct val="105000"/>
                </a:lnSpc>
                <a:spcAft>
                  <a:spcPts val="600"/>
                </a:spcAft>
              </a:pPr>
              <a:r>
                <a:rPr sz="2200" b="0" i="0" dirty="0">
                  <a:solidFill>
                    <a:srgbClr val="6B7280"/>
                  </a:solidFill>
                  <a:latin typeface="Calibri"/>
                </a:rPr>
                <a:t>P </a:t>
              </a:r>
              <a:r>
                <a:rPr sz="2200" dirty="0">
                  <a:solidFill>
                    <a:srgbClr val="6B7280"/>
                  </a:solidFill>
                  <a:latin typeface="Calibri"/>
                </a:rPr>
                <a:t>0.88</a:t>
              </a:r>
              <a:r>
                <a:rPr sz="2200" b="0" i="0" dirty="0">
                  <a:solidFill>
                    <a:srgbClr val="6B7280"/>
                  </a:solidFill>
                  <a:latin typeface="Calibri"/>
                </a:rPr>
                <a:t> · R 0.92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991420" y="4431311"/>
              <a:ext cx="5852160" cy="566928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 w="15240">
              <a:solidFill>
                <a:srgbClr val="1E7A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220020" y="4505743"/>
              <a:ext cx="1638604" cy="418063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1" i="0" dirty="0">
                  <a:solidFill>
                    <a:srgbClr val="1E7A40"/>
                  </a:solidFill>
                  <a:latin typeface="Calibri"/>
                </a:rPr>
                <a:t>NIKE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200000" y="4482000"/>
              <a:ext cx="2340864" cy="418063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>
              <a:defPPr>
                <a:defRPr lang="en-US"/>
              </a:defPPr>
              <a:lvl1pPr algn="ctr">
                <a:lnSpc>
                  <a:spcPct val="105000"/>
                </a:lnSpc>
                <a:spcAft>
                  <a:spcPts val="600"/>
                </a:spcAft>
                <a:defRPr sz="2000" b="0" i="0">
                  <a:solidFill>
                    <a:srgbClr val="6B7280"/>
                  </a:solidFill>
                  <a:latin typeface="Calibri"/>
                </a:defRPr>
              </a:lvl1pPr>
            </a:lstStyle>
            <a:p>
              <a:r>
                <a:rPr sz="2200" dirty="0"/>
                <a:t>mAP@50 = 0.87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576000" y="4302000"/>
              <a:ext cx="1872000" cy="773545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r">
                <a:lnSpc>
                  <a:spcPct val="105000"/>
                </a:lnSpc>
                <a:spcAft>
                  <a:spcPts val="600"/>
                </a:spcAft>
              </a:pPr>
              <a:r>
                <a:rPr sz="2200" b="0" i="0" dirty="0">
                  <a:solidFill>
                    <a:srgbClr val="6B7280"/>
                  </a:solidFill>
                  <a:latin typeface="Calibri"/>
                </a:rPr>
                <a:t>P 0.93 · R 0.87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2000"/>
            <a:ext cx="11274552" cy="612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600" b="1" i="0" dirty="0">
                <a:solidFill>
                  <a:srgbClr val="1E5B4D"/>
                </a:solidFill>
                <a:latin typeface="Calibri"/>
              </a:rPr>
              <a:t>Etapa 1 ·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Inferencia</a:t>
            </a:r>
            <a:r>
              <a:rPr sz="3600" b="1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en</a:t>
            </a:r>
            <a:r>
              <a:rPr sz="3600" b="1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vídeo</a:t>
            </a:r>
            <a:endParaRPr sz="3600" b="1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8000" y="720000"/>
            <a:ext cx="8388000" cy="5986254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/>
            <a:r>
              <a:rPr lang="es-ES" sz="3200" b="0" i="0" dirty="0" err="1">
                <a:solidFill>
                  <a:srgbClr val="2B2B2B"/>
                </a:solidFill>
                <a:latin typeface="Calibri"/>
              </a:rPr>
              <a:t>OpenCV</a:t>
            </a:r>
            <a:r>
              <a:rPr lang="es-ES" sz="3200" b="0" i="0" dirty="0">
                <a:solidFill>
                  <a:srgbClr val="2B2B2B"/>
                </a:solidFill>
                <a:latin typeface="Calibri"/>
              </a:rPr>
              <a:t> abre el vídeo y lo recorre </a:t>
            </a:r>
            <a:r>
              <a:rPr lang="es-ES" sz="3200" b="0" i="0" dirty="0" err="1">
                <a:solidFill>
                  <a:srgbClr val="2B2B2B"/>
                </a:solidFill>
                <a:latin typeface="Calibri"/>
              </a:rPr>
              <a:t>frame</a:t>
            </a:r>
            <a:r>
              <a:rPr lang="es-ES" sz="3200" b="0" i="0" dirty="0">
                <a:solidFill>
                  <a:srgbClr val="2B2B2B"/>
                </a:solidFill>
                <a:latin typeface="Calibri"/>
              </a:rPr>
              <a:t> a </a:t>
            </a:r>
            <a:r>
              <a:rPr lang="es-ES" sz="3200" b="0" i="0" dirty="0" err="1">
                <a:solidFill>
                  <a:srgbClr val="2B2B2B"/>
                </a:solidFill>
                <a:latin typeface="Calibri"/>
              </a:rPr>
              <a:t>frame</a:t>
            </a:r>
            <a:r>
              <a:rPr lang="es-ES" sz="3200" b="0" i="0" dirty="0">
                <a:solidFill>
                  <a:srgbClr val="2B2B2B"/>
                </a:solidFill>
                <a:latin typeface="Calibri"/>
              </a:rPr>
              <a:t>. Por rendimiento procesamos 1 de cada 3 </a:t>
            </a:r>
            <a:r>
              <a:rPr lang="es-ES" sz="3200" b="0" i="0" dirty="0" err="1">
                <a:solidFill>
                  <a:srgbClr val="2B2B2B"/>
                </a:solidFill>
                <a:latin typeface="Calibri"/>
              </a:rPr>
              <a:t>frames</a:t>
            </a:r>
            <a:r>
              <a:rPr lang="es-ES" sz="3200" b="0" i="0" dirty="0">
                <a:solidFill>
                  <a:srgbClr val="2B2B2B"/>
                </a:solidFill>
                <a:latin typeface="Calibri"/>
              </a:rPr>
              <a:t> (</a:t>
            </a:r>
            <a:r>
              <a:rPr lang="es-ES" sz="3200" b="0" i="0" dirty="0" err="1">
                <a:solidFill>
                  <a:srgbClr val="2B2B2B"/>
                </a:solidFill>
                <a:latin typeface="Calibri"/>
              </a:rPr>
              <a:t>frame_skip</a:t>
            </a:r>
            <a:r>
              <a:rPr lang="es-ES" sz="3200" b="0" i="0" dirty="0">
                <a:solidFill>
                  <a:srgbClr val="2B2B2B"/>
                </a:solidFill>
                <a:latin typeface="Calibri"/>
              </a:rPr>
              <a:t> configurable).
En cada </a:t>
            </a:r>
            <a:r>
              <a:rPr lang="es-ES" sz="3200" b="0" i="0" dirty="0" err="1">
                <a:solidFill>
                  <a:srgbClr val="2B2B2B"/>
                </a:solidFill>
                <a:latin typeface="Calibri"/>
              </a:rPr>
              <a:t>frame</a:t>
            </a:r>
            <a:r>
              <a:rPr lang="es-ES" sz="3200" b="0" i="0" dirty="0">
                <a:solidFill>
                  <a:srgbClr val="2B2B2B"/>
                </a:solidFill>
                <a:latin typeface="Calibri"/>
              </a:rPr>
              <a:t>, </a:t>
            </a:r>
            <a:r>
              <a:rPr lang="es-ES" sz="3200" b="0" i="0" dirty="0" err="1">
                <a:solidFill>
                  <a:srgbClr val="2B2B2B"/>
                </a:solidFill>
                <a:latin typeface="Calibri"/>
              </a:rPr>
              <a:t>model.predict</a:t>
            </a:r>
            <a:r>
              <a:rPr lang="es-ES" sz="3200" b="0" i="0" dirty="0">
                <a:solidFill>
                  <a:srgbClr val="2B2B2B"/>
                </a:solidFill>
                <a:latin typeface="Calibri"/>
              </a:rPr>
              <a:t>() corre con umbral de confianza 0.40 y NMS con </a:t>
            </a:r>
            <a:r>
              <a:rPr lang="es-ES" sz="3200" b="0" i="0" dirty="0" err="1">
                <a:solidFill>
                  <a:srgbClr val="2B2B2B"/>
                </a:solidFill>
                <a:latin typeface="Calibri"/>
              </a:rPr>
              <a:t>IoU</a:t>
            </a:r>
            <a:r>
              <a:rPr lang="es-ES" sz="3200" b="0" i="0" dirty="0">
                <a:solidFill>
                  <a:srgbClr val="2B2B2B"/>
                </a:solidFill>
                <a:latin typeface="Calibri"/>
              </a:rPr>
              <a:t> 0.45. De cada detección extraemos clase, confianza y </a:t>
            </a:r>
            <a:r>
              <a:rPr lang="es-ES" sz="3200" b="0" i="0" dirty="0" err="1">
                <a:solidFill>
                  <a:srgbClr val="2B2B2B"/>
                </a:solidFill>
                <a:latin typeface="Calibri"/>
              </a:rPr>
              <a:t>bounding</a:t>
            </a:r>
            <a:r>
              <a:rPr lang="es-ES" sz="3200" b="0" i="0" dirty="0">
                <a:solidFill>
                  <a:srgbClr val="2B2B2B"/>
                </a:solidFill>
                <a:latin typeface="Calibri"/>
              </a:rPr>
              <a:t> box, dibujamos la caja con su etiqueta y % de confianza, y exportamos un vídeo anotado.
Cada detección se guarda como un objeto </a:t>
            </a:r>
            <a:r>
              <a:rPr lang="es-ES" sz="3200" b="0" i="0" dirty="0" err="1">
                <a:solidFill>
                  <a:srgbClr val="2B2B2B"/>
                </a:solidFill>
                <a:latin typeface="Calibri"/>
              </a:rPr>
              <a:t>Detection</a:t>
            </a:r>
            <a:r>
              <a:rPr lang="es-ES" sz="3200" b="0" i="0" dirty="0">
                <a:solidFill>
                  <a:srgbClr val="2B2B2B"/>
                </a:solidFill>
                <a:latin typeface="Calibri"/>
              </a:rPr>
              <a:t> que viaja al resto del pipeline.</a:t>
            </a:r>
          </a:p>
        </p:txBody>
      </p:sp>
      <p:pic>
        <p:nvPicPr>
          <p:cNvPr id="4" name="Picture 3" descr="05_detecc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000" y="719994"/>
            <a:ext cx="3306699" cy="60790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2000"/>
            <a:ext cx="11274552" cy="612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600" b="1" i="0" dirty="0">
                <a:solidFill>
                  <a:srgbClr val="1E5B4D"/>
                </a:solidFill>
                <a:latin typeface="Calibri"/>
              </a:rPr>
              <a:t>Etapa 2 · El tracker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" y="684000"/>
            <a:ext cx="12168000" cy="2292935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/>
            <a:r>
              <a:rPr sz="2400" b="0" i="0" dirty="0">
                <a:solidFill>
                  <a:srgbClr val="2B2B2B"/>
                </a:solidFill>
                <a:latin typeface="Calibri"/>
              </a:rPr>
              <a:t>Nuestro valor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diferencial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. La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inferencia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da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detecciones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sueltas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por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frame;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sumarlas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sobreestima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el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tiempo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(un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jugador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tapa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el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logo medio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segundo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: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sigue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siendo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una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aparición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, no dos).
Es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una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máquina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de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estados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por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marca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que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agrupa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detecciones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en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intervalos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. Regla: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si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el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hueco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entre dos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detecciones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es ≤ 1 s,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extiende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el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intervalo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;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si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es mayor, lo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cierra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y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abre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uno nuevo.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Así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medimos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tiempo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 real de </a:t>
            </a:r>
            <a:r>
              <a:rPr sz="2400" b="0" i="0" dirty="0" err="1">
                <a:solidFill>
                  <a:srgbClr val="2B2B2B"/>
                </a:solidFill>
                <a:latin typeface="Calibri"/>
              </a:rPr>
              <a:t>exposición</a:t>
            </a:r>
            <a:r>
              <a:rPr sz="2400" b="0" i="0" dirty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0" y="2903729"/>
            <a:ext cx="24480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1E5B4D"/>
                </a:solidFill>
                <a:latin typeface="Calibri"/>
              </a:rPr>
              <a:t>hueco</a:t>
            </a:r>
            <a:r>
              <a:rPr b="1" i="0" dirty="0">
                <a:solidFill>
                  <a:srgbClr val="1E5B4D"/>
                </a:solidFill>
                <a:latin typeface="Calibri"/>
              </a:rPr>
              <a:t> 0.7 s  ≤ 1 s  → </a:t>
            </a:r>
            <a:r>
              <a:rPr b="1" i="0" dirty="0" err="1">
                <a:solidFill>
                  <a:srgbClr val="1E5B4D"/>
                </a:solidFill>
                <a:latin typeface="Calibri"/>
              </a:rPr>
              <a:t>une</a:t>
            </a:r>
            <a:endParaRPr b="1" i="0" dirty="0">
              <a:solidFill>
                <a:srgbClr val="1E5B4D"/>
              </a:solidFill>
              <a:latin typeface="Calibri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4188207" y="3325648"/>
            <a:ext cx="0" cy="270518"/>
          </a:xfrm>
          <a:prstGeom prst="line">
            <a:avLst/>
          </a:prstGeom>
          <a:ln w="15875">
            <a:solidFill>
              <a:srgbClr val="1E5B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51000" y="2914614"/>
            <a:ext cx="24480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E8761E"/>
                </a:solidFill>
                <a:latin typeface="Calibri"/>
              </a:rPr>
              <a:t>hueco</a:t>
            </a:r>
            <a:r>
              <a:rPr b="1" i="0" dirty="0">
                <a:solidFill>
                  <a:srgbClr val="E8761E"/>
                </a:solidFill>
                <a:latin typeface="Calibri"/>
              </a:rPr>
              <a:t> 4.4 s  &gt; 1 s  → </a:t>
            </a:r>
            <a:r>
              <a:rPr b="1" i="0" dirty="0" err="1">
                <a:solidFill>
                  <a:srgbClr val="E8761E"/>
                </a:solidFill>
                <a:latin typeface="Calibri"/>
              </a:rPr>
              <a:t>corta</a:t>
            </a:r>
            <a:endParaRPr b="1" i="0" dirty="0">
              <a:solidFill>
                <a:srgbClr val="E8761E"/>
              </a:solidFill>
              <a:latin typeface="Calibri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62321" y="3325648"/>
            <a:ext cx="0" cy="270518"/>
          </a:xfrm>
          <a:prstGeom prst="line">
            <a:avLst/>
          </a:prstGeom>
          <a:ln w="15875">
            <a:solidFill>
              <a:srgbClr val="E876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2583" y="3633160"/>
            <a:ext cx="1980574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1E5B4D"/>
                </a:solidFill>
                <a:latin typeface="Calibri"/>
              </a:rPr>
              <a:t>Detecciones</a:t>
            </a:r>
            <a:endParaRPr b="1" i="0" dirty="0">
              <a:solidFill>
                <a:srgbClr val="1E5B4D"/>
              </a:solidFill>
              <a:latin typeface="Calibri"/>
            </a:endParaRPr>
          </a:p>
          <a:p>
            <a:pPr algn="ctr"/>
            <a:r>
              <a:rPr b="1" i="0" dirty="0" err="1">
                <a:solidFill>
                  <a:srgbClr val="1E5B4D"/>
                </a:solidFill>
                <a:latin typeface="Calibri"/>
              </a:rPr>
              <a:t>por</a:t>
            </a:r>
            <a:r>
              <a:rPr b="1" i="0" dirty="0">
                <a:solidFill>
                  <a:srgbClr val="1E5B4D"/>
                </a:solidFill>
                <a:latin typeface="Calibri"/>
              </a:rPr>
              <a:t>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583" y="4647600"/>
            <a:ext cx="1980574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1E5B4D"/>
                </a:solidFill>
                <a:latin typeface="Calibri"/>
              </a:rPr>
              <a:t>Intervalos</a:t>
            </a:r>
            <a:endParaRPr b="1" i="0" dirty="0">
              <a:solidFill>
                <a:srgbClr val="1E5B4D"/>
              </a:solidFill>
              <a:latin typeface="Calibri"/>
            </a:endParaRPr>
          </a:p>
          <a:p>
            <a:pPr algn="ctr"/>
            <a:r>
              <a:rPr b="1" i="0" dirty="0">
                <a:solidFill>
                  <a:srgbClr val="1E5B4D"/>
                </a:solidFill>
                <a:latin typeface="Calibri"/>
              </a:rPr>
              <a:t>de </a:t>
            </a:r>
            <a:r>
              <a:rPr b="1" i="0" dirty="0" err="1">
                <a:solidFill>
                  <a:srgbClr val="1E5B4D"/>
                </a:solidFill>
                <a:latin typeface="Calibri"/>
              </a:rPr>
              <a:t>aparición</a:t>
            </a:r>
            <a:endParaRPr b="1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59597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47027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34456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21887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09316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47047" y="4140000"/>
            <a:ext cx="1232787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 err="1">
                <a:solidFill>
                  <a:srgbClr val="2B2B2B"/>
                </a:solidFill>
                <a:latin typeface="Calibri"/>
              </a:rPr>
              <a:t>nike</a:t>
            </a:r>
            <a:r>
              <a:rPr b="0" i="0" dirty="0">
                <a:solidFill>
                  <a:srgbClr val="2B2B2B"/>
                </a:solidFill>
                <a:latin typeface="Calibri"/>
              </a:rPr>
              <a:t> #1 </a:t>
            </a:r>
            <a:br>
              <a:rPr lang="es-ES" b="0" i="0" dirty="0">
                <a:solidFill>
                  <a:srgbClr val="2B2B2B"/>
                </a:solidFill>
                <a:latin typeface="Calibri"/>
              </a:rPr>
            </a:br>
            <a:r>
              <a:rPr b="0" i="0" dirty="0">
                <a:solidFill>
                  <a:srgbClr val="2B2B2B"/>
                </a:solidFill>
                <a:latin typeface="Calibri"/>
              </a:rPr>
              <a:t>· 1.8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9130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96560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83990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71420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8849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96580" y="4140000"/>
            <a:ext cx="1232787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 err="1">
                <a:solidFill>
                  <a:srgbClr val="2B2B2B"/>
                </a:solidFill>
                <a:latin typeface="Calibri"/>
              </a:rPr>
              <a:t>nike</a:t>
            </a:r>
            <a:r>
              <a:rPr b="0" i="0" dirty="0">
                <a:solidFill>
                  <a:srgbClr val="2B2B2B"/>
                </a:solidFill>
                <a:latin typeface="Calibri"/>
              </a:rPr>
              <a:t> #2 </a:t>
            </a:r>
            <a:br>
              <a:rPr lang="es-ES" b="0" i="0" dirty="0">
                <a:solidFill>
                  <a:srgbClr val="2B2B2B"/>
                </a:solidFill>
                <a:latin typeface="Calibri"/>
              </a:rPr>
            </a:br>
            <a:r>
              <a:rPr b="0" i="0" dirty="0">
                <a:solidFill>
                  <a:srgbClr val="2B2B2B"/>
                </a:solidFill>
                <a:latin typeface="Calibri"/>
              </a:rPr>
              <a:t>· 1.1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0301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0206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70113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20020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69927" y="3692779"/>
            <a:ext cx="57968" cy="483067"/>
          </a:xfrm>
          <a:prstGeom prst="rect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57751" y="4133237"/>
            <a:ext cx="1482693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 err="1">
                <a:solidFill>
                  <a:srgbClr val="2B2B2B"/>
                </a:solidFill>
                <a:latin typeface="Calibri"/>
              </a:rPr>
              <a:t>nike</a:t>
            </a:r>
            <a:r>
              <a:rPr b="0" i="0" dirty="0">
                <a:solidFill>
                  <a:srgbClr val="2B2B2B"/>
                </a:solidFill>
                <a:latin typeface="Calibri"/>
              </a:rPr>
              <a:t> #3 </a:t>
            </a:r>
            <a:br>
              <a:rPr lang="es-ES" b="0" i="0" dirty="0">
                <a:solidFill>
                  <a:srgbClr val="2B2B2B"/>
                </a:solidFill>
                <a:latin typeface="Calibri"/>
              </a:rPr>
            </a:br>
            <a:r>
              <a:rPr b="0" i="0" dirty="0">
                <a:solidFill>
                  <a:srgbClr val="2B2B2B"/>
                </a:solidFill>
                <a:latin typeface="Calibri"/>
              </a:rPr>
              <a:t>· 1.6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88581" y="4707219"/>
            <a:ext cx="1999253" cy="434760"/>
          </a:xfrm>
          <a:prstGeom prst="roundRect">
            <a:avLst/>
          </a:prstGeom>
          <a:solidFill>
            <a:srgbClr val="1E5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999285" y="4707219"/>
            <a:ext cx="999626" cy="434760"/>
          </a:xfrm>
          <a:prstGeom prst="roundRect">
            <a:avLst/>
          </a:prstGeom>
          <a:solidFill>
            <a:srgbClr val="1E5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2376385" y="5721660"/>
            <a:ext cx="9558929" cy="0"/>
          </a:xfrm>
          <a:prstGeom prst="line">
            <a:avLst/>
          </a:prstGeom>
          <a:ln w="22225">
            <a:solidFill>
              <a:srgbClr val="1E5B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76385" y="5654031"/>
            <a:ext cx="0" cy="135259"/>
          </a:xfrm>
          <a:prstGeom prst="line">
            <a:avLst/>
          </a:prstGeom>
          <a:ln w="12700">
            <a:solidFill>
              <a:srgbClr val="1E5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134851" y="5785152"/>
            <a:ext cx="48306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2B2B2B"/>
                </a:solidFill>
                <a:latin typeface="Calibri"/>
              </a:rPr>
              <a:t>0</a:t>
            </a:r>
            <a:r>
              <a:rPr lang="es-ES" sz="2000" b="0" i="0" dirty="0">
                <a:solidFill>
                  <a:srgbClr val="2B2B2B"/>
                </a:solidFill>
                <a:latin typeface="Calibri"/>
              </a:rPr>
              <a:t>0</a:t>
            </a:r>
            <a:endParaRPr sz="2000" b="0" i="0" dirty="0">
              <a:solidFill>
                <a:srgbClr val="2B2B2B"/>
              </a:solidFill>
              <a:latin typeface="Calibri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4250685" y="5654031"/>
            <a:ext cx="0" cy="135259"/>
          </a:xfrm>
          <a:prstGeom prst="line">
            <a:avLst/>
          </a:prstGeom>
          <a:ln w="12700">
            <a:solidFill>
              <a:srgbClr val="1E5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09151" y="5785152"/>
            <a:ext cx="48306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2000" b="0" i="0" dirty="0">
                <a:solidFill>
                  <a:srgbClr val="2B2B2B"/>
                </a:solidFill>
                <a:latin typeface="Calibri"/>
              </a:rPr>
              <a:t>0</a:t>
            </a:r>
            <a:r>
              <a:rPr sz="2000" b="0" i="0" dirty="0">
                <a:solidFill>
                  <a:srgbClr val="2B2B2B"/>
                </a:solidFill>
                <a:latin typeface="Calibri"/>
              </a:rPr>
              <a:t>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124985" y="5654031"/>
            <a:ext cx="0" cy="135259"/>
          </a:xfrm>
          <a:prstGeom prst="line">
            <a:avLst/>
          </a:prstGeom>
          <a:ln w="12700">
            <a:solidFill>
              <a:srgbClr val="1E5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883451" y="5785152"/>
            <a:ext cx="48306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2000" b="0" i="0" dirty="0">
                <a:solidFill>
                  <a:srgbClr val="2B2B2B"/>
                </a:solidFill>
                <a:latin typeface="Calibri"/>
              </a:rPr>
              <a:t>0</a:t>
            </a:r>
            <a:r>
              <a:rPr sz="2000" b="0" i="0" dirty="0">
                <a:solidFill>
                  <a:srgbClr val="2B2B2B"/>
                </a:solidFill>
                <a:latin typeface="Calibri"/>
              </a:rPr>
              <a:t>6</a:t>
            </a:r>
            <a:endParaRPr sz="1000" b="0" i="0" dirty="0">
              <a:solidFill>
                <a:srgbClr val="2B2B2B"/>
              </a:solidFill>
              <a:latin typeface="Calibri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7999285" y="5654031"/>
            <a:ext cx="0" cy="135259"/>
          </a:xfrm>
          <a:prstGeom prst="line">
            <a:avLst/>
          </a:prstGeom>
          <a:ln w="12700">
            <a:solidFill>
              <a:srgbClr val="1E5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57751" y="5785152"/>
            <a:ext cx="48306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2000" b="0" i="0" dirty="0">
                <a:solidFill>
                  <a:srgbClr val="2B2B2B"/>
                </a:solidFill>
                <a:latin typeface="Calibri"/>
              </a:rPr>
              <a:t>0</a:t>
            </a:r>
            <a:r>
              <a:rPr sz="2000" b="0" i="0" dirty="0">
                <a:solidFill>
                  <a:srgbClr val="2B2B2B"/>
                </a:solidFill>
                <a:latin typeface="Calibri"/>
              </a:rPr>
              <a:t>9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73585" y="5654031"/>
            <a:ext cx="0" cy="135259"/>
          </a:xfrm>
          <a:prstGeom prst="line">
            <a:avLst/>
          </a:prstGeom>
          <a:ln w="12700">
            <a:solidFill>
              <a:srgbClr val="1E5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632051" y="5785152"/>
            <a:ext cx="48306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2B2B2B"/>
                </a:solidFill>
                <a:latin typeface="Calibri"/>
              </a:rPr>
              <a:t>12</a:t>
            </a:r>
            <a:endParaRPr sz="1000" b="0" i="0" dirty="0">
              <a:solidFill>
                <a:srgbClr val="2B2B2B"/>
              </a:solidFill>
              <a:latin typeface="Calibri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11747883" y="5654031"/>
            <a:ext cx="0" cy="135259"/>
          </a:xfrm>
          <a:prstGeom prst="line">
            <a:avLst/>
          </a:prstGeom>
          <a:ln w="12700">
            <a:solidFill>
              <a:srgbClr val="1E5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1506350" y="5785152"/>
            <a:ext cx="48306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2B2B2B"/>
                </a:solidFill>
                <a:latin typeface="Calibri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3040" y="6138548"/>
            <a:ext cx="164592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800" b="0" i="0" dirty="0" err="1">
                <a:solidFill>
                  <a:srgbClr val="2B2B2B"/>
                </a:solidFill>
                <a:latin typeface="Calibri"/>
              </a:rPr>
              <a:t>tiempo</a:t>
            </a:r>
            <a:r>
              <a:rPr sz="2800" b="0" i="0" dirty="0">
                <a:solidFill>
                  <a:srgbClr val="2B2B2B"/>
                </a:solidFill>
                <a:latin typeface="Calibri"/>
              </a:rPr>
              <a:t> (s)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2000"/>
            <a:ext cx="11274552" cy="648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600" b="1" i="0" dirty="0" err="1">
                <a:solidFill>
                  <a:srgbClr val="1E5B4D"/>
                </a:solidFill>
                <a:latin typeface="Calibri"/>
              </a:rPr>
              <a:t>Etapas</a:t>
            </a:r>
            <a:r>
              <a:rPr sz="3600" b="1" i="0" dirty="0">
                <a:solidFill>
                  <a:srgbClr val="1E5B4D"/>
                </a:solidFill>
                <a:latin typeface="Calibri"/>
              </a:rPr>
              <a:t> 3 y 4 · Informe y base de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datos</a:t>
            </a:r>
            <a:endParaRPr sz="3600" b="1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00" y="720000"/>
            <a:ext cx="12168000" cy="2385268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/>
            <a:r>
              <a:rPr sz="3000" b="0" i="0" dirty="0">
                <a:solidFill>
                  <a:srgbClr val="2B2B2B"/>
                </a:solidFill>
                <a:latin typeface="Calibri"/>
              </a:rPr>
              <a:t>Informe: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por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marca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sumamos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el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tiempo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total,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el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%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sobre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la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duración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del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vídeo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y la confianza media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ponderada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. Se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exporta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en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JSON (para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el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frontend) y TXT.
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Persistencia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: SQLite con 3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tablas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— videos,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intervalos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e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informes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. Un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vídeo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tiene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muchos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intervalos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y un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resumen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por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marca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, lo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que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permite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consultar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y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comparar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campañas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3000" b="0" i="0" dirty="0" err="1">
                <a:solidFill>
                  <a:srgbClr val="2B2B2B"/>
                </a:solidFill>
                <a:latin typeface="Calibri"/>
              </a:rPr>
              <a:t>históricas</a:t>
            </a:r>
            <a:r>
              <a:rPr sz="3000" b="0" i="0" dirty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2C0DA23-4473-E2D7-EDC9-751165B7982F}"/>
              </a:ext>
            </a:extLst>
          </p:cNvPr>
          <p:cNvGrpSpPr/>
          <p:nvPr/>
        </p:nvGrpSpPr>
        <p:grpSpPr>
          <a:xfrm>
            <a:off x="1794000" y="3744000"/>
            <a:ext cx="8604000" cy="2664000"/>
            <a:chOff x="258715" y="2971800"/>
            <a:chExt cx="11674570" cy="2971800"/>
          </a:xfrm>
        </p:grpSpPr>
        <p:sp>
          <p:nvSpPr>
            <p:cNvPr id="4" name="Rounded Rectangle 3"/>
            <p:cNvSpPr/>
            <p:nvPr/>
          </p:nvSpPr>
          <p:spPr>
            <a:xfrm>
              <a:off x="258715" y="2971800"/>
              <a:ext cx="3404672" cy="502920"/>
            </a:xfrm>
            <a:prstGeom prst="roundRect">
              <a:avLst/>
            </a:prstGeom>
            <a:solidFill>
              <a:srgbClr val="1E5B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videos</a:t>
              </a:r>
            </a:p>
          </p:txBody>
        </p:sp>
        <p:sp>
          <p:nvSpPr>
            <p:cNvPr id="5" name="Rectangle 4"/>
            <p:cNvSpPr>
              <a:spLocks noChangeAspect="1"/>
            </p:cNvSpPr>
            <p:nvPr/>
          </p:nvSpPr>
          <p:spPr>
            <a:xfrm>
              <a:off x="258715" y="3474720"/>
              <a:ext cx="3404672" cy="2468880"/>
            </a:xfrm>
            <a:prstGeom prst="rect">
              <a:avLst/>
            </a:prstGeom>
            <a:solidFill>
              <a:srgbClr val="FDFBF5"/>
            </a:solidFill>
            <a:ln w="19050">
              <a:solidFill>
                <a:srgbClr val="1E5B4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t"/>
            <a:lstStyle/>
            <a:p>
              <a:pPr algn="l"/>
              <a:r>
                <a:rPr sz="2000" b="1" dirty="0">
                  <a:solidFill>
                    <a:srgbClr val="1E5B4D"/>
                  </a:solidFill>
                  <a:latin typeface="Calibri"/>
                </a:rPr>
                <a:t>id  (PK)</a:t>
              </a: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nombre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duracion_sec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fecha_analisis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393664" y="2971800"/>
              <a:ext cx="3404672" cy="502920"/>
            </a:xfrm>
            <a:prstGeom prst="roundRect">
              <a:avLst/>
            </a:prstGeom>
            <a:solidFill>
              <a:srgbClr val="2C7A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000" b="1" dirty="0" err="1">
                  <a:solidFill>
                    <a:srgbClr val="FFFFFF"/>
                  </a:solidFill>
                  <a:latin typeface="Calibri"/>
                </a:rPr>
                <a:t>intervalos</a:t>
              </a:r>
              <a:endParaRPr sz="2000" b="1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393664" y="3474720"/>
              <a:ext cx="3404672" cy="2468880"/>
            </a:xfrm>
            <a:prstGeom prst="rect">
              <a:avLst/>
            </a:prstGeom>
            <a:solidFill>
              <a:srgbClr val="FDFBF5"/>
            </a:solidFill>
            <a:ln w="19050">
              <a:solidFill>
                <a:srgbClr val="2C7A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t"/>
            <a:lstStyle/>
            <a:p>
              <a:pPr algn="l"/>
              <a:r>
                <a:rPr sz="2000" b="1" dirty="0">
                  <a:solidFill>
                    <a:srgbClr val="1E5B4D"/>
                  </a:solidFill>
                  <a:latin typeface="Calibri"/>
                </a:rPr>
                <a:t>id  (PK)</a:t>
              </a: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video_id</a:t>
              </a:r>
              <a:r>
                <a:rPr sz="2000" b="0" dirty="0">
                  <a:solidFill>
                    <a:srgbClr val="1E5B4D"/>
                  </a:solidFill>
                  <a:latin typeface="Calibri"/>
                </a:rPr>
                <a:t>  (FK)</a:t>
              </a: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marca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inicio_sec</a:t>
              </a:r>
              <a:r>
                <a:rPr sz="2000" b="0" dirty="0">
                  <a:solidFill>
                    <a:srgbClr val="1E5B4D"/>
                  </a:solidFill>
                  <a:latin typeface="Calibri"/>
                </a:rPr>
                <a:t> / </a:t>
              </a:r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fin_sec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duracion_sec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num_frames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confianza_avg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528613" y="2971800"/>
              <a:ext cx="3404672" cy="502920"/>
            </a:xfrm>
            <a:prstGeom prst="roundRect">
              <a:avLst/>
            </a:prstGeom>
            <a:solidFill>
              <a:srgbClr val="E87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000" b="1" dirty="0" err="1">
                  <a:solidFill>
                    <a:srgbClr val="FFFFFF"/>
                  </a:solidFill>
                  <a:latin typeface="Calibri"/>
                </a:rPr>
                <a:t>informes</a:t>
              </a:r>
              <a:endParaRPr sz="2000" b="1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8528613" y="3474720"/>
              <a:ext cx="3404672" cy="2468880"/>
            </a:xfrm>
            <a:prstGeom prst="rect">
              <a:avLst/>
            </a:prstGeom>
            <a:solidFill>
              <a:srgbClr val="FDFBF5"/>
            </a:solidFill>
            <a:ln w="19050">
              <a:solidFill>
                <a:srgbClr val="E8761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t"/>
            <a:lstStyle/>
            <a:p>
              <a:pPr algn="l"/>
              <a:r>
                <a:rPr sz="2000" b="1" dirty="0">
                  <a:solidFill>
                    <a:srgbClr val="1E5B4D"/>
                  </a:solidFill>
                  <a:latin typeface="Calibri"/>
                </a:rPr>
                <a:t>id  (PK)</a:t>
              </a: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video_id</a:t>
              </a:r>
              <a:r>
                <a:rPr sz="2000" b="0" dirty="0">
                  <a:solidFill>
                    <a:srgbClr val="1E5B4D"/>
                  </a:solidFill>
                  <a:latin typeface="Calibri"/>
                </a:rPr>
                <a:t>  (FK)</a:t>
              </a: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marca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tiempo_total_sec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porcentaje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num_intervalos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  <a:p>
              <a:pPr algn="l"/>
              <a:r>
                <a:rPr sz="2000" b="0" dirty="0" err="1">
                  <a:solidFill>
                    <a:srgbClr val="1E5B4D"/>
                  </a:solidFill>
                  <a:latin typeface="Calibri"/>
                </a:rPr>
                <a:t>confianza_avg</a:t>
              </a:r>
              <a:endParaRPr sz="2000" b="0" dirty="0">
                <a:solidFill>
                  <a:srgbClr val="1E5B4D"/>
                </a:solidFill>
                <a:latin typeface="Calibri"/>
              </a:endParaRP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712730" y="3520440"/>
              <a:ext cx="631591" cy="274320"/>
            </a:xfrm>
            <a:prstGeom prst="rightArrow">
              <a:avLst/>
            </a:prstGeom>
            <a:solidFill>
              <a:srgbClr val="E87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14044" y="3119664"/>
              <a:ext cx="828964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000" b="1" i="0" dirty="0">
                  <a:solidFill>
                    <a:srgbClr val="2B2B2B"/>
                  </a:solidFill>
                  <a:latin typeface="Calibri"/>
                </a:rPr>
                <a:t>1 : N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7847679" y="3520440"/>
              <a:ext cx="631591" cy="274320"/>
            </a:xfrm>
            <a:prstGeom prst="rightArrow">
              <a:avLst/>
            </a:prstGeom>
            <a:solidFill>
              <a:srgbClr val="E87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48993" y="3119664"/>
              <a:ext cx="828964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000" b="1" i="0" dirty="0">
                  <a:solidFill>
                    <a:srgbClr val="2B2B2B"/>
                  </a:solidFill>
                  <a:latin typeface="Calibri"/>
                </a:rPr>
                <a:t>1 : N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2000" y="6444000"/>
            <a:ext cx="12168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1" dirty="0">
                <a:solidFill>
                  <a:srgbClr val="1E5B4D"/>
                </a:solidFill>
                <a:latin typeface="Calibri"/>
              </a:rPr>
              <a:t>Cada </a:t>
            </a:r>
            <a:r>
              <a:rPr sz="1400" b="0" i="1" dirty="0" err="1">
                <a:solidFill>
                  <a:srgbClr val="1E5B4D"/>
                </a:solidFill>
                <a:latin typeface="Calibri"/>
              </a:rPr>
              <a:t>análisis</a:t>
            </a:r>
            <a:r>
              <a:rPr sz="1400" b="0" i="1" dirty="0">
                <a:solidFill>
                  <a:srgbClr val="1E5B4D"/>
                </a:solidFill>
                <a:latin typeface="Calibri"/>
              </a:rPr>
              <a:t> se </a:t>
            </a:r>
            <a:r>
              <a:rPr sz="1400" b="0" i="1" dirty="0" err="1">
                <a:solidFill>
                  <a:srgbClr val="1E5B4D"/>
                </a:solidFill>
                <a:latin typeface="Calibri"/>
              </a:rPr>
              <a:t>persiste</a:t>
            </a:r>
            <a:r>
              <a:rPr sz="1400" b="0" i="1" dirty="0">
                <a:solidFill>
                  <a:srgbClr val="1E5B4D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E5B4D"/>
                </a:solidFill>
                <a:latin typeface="Calibri"/>
              </a:rPr>
              <a:t>completo</a:t>
            </a:r>
            <a:r>
              <a:rPr sz="1400" b="0" i="1" dirty="0">
                <a:solidFill>
                  <a:srgbClr val="1E5B4D"/>
                </a:solidFill>
                <a:latin typeface="Calibri"/>
              </a:rPr>
              <a:t> → </a:t>
            </a:r>
            <a:r>
              <a:rPr sz="1400" b="0" i="1" dirty="0" err="1">
                <a:solidFill>
                  <a:srgbClr val="1E5B4D"/>
                </a:solidFill>
                <a:latin typeface="Calibri"/>
              </a:rPr>
              <a:t>permite</a:t>
            </a:r>
            <a:r>
              <a:rPr sz="1400" b="0" i="1" dirty="0">
                <a:solidFill>
                  <a:srgbClr val="1E5B4D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E5B4D"/>
                </a:solidFill>
                <a:latin typeface="Calibri"/>
              </a:rPr>
              <a:t>consultar</a:t>
            </a:r>
            <a:r>
              <a:rPr sz="1400" b="0" i="1" dirty="0">
                <a:solidFill>
                  <a:srgbClr val="1E5B4D"/>
                </a:solidFill>
                <a:latin typeface="Calibri"/>
              </a:rPr>
              <a:t> y </a:t>
            </a:r>
            <a:r>
              <a:rPr sz="1400" b="0" i="1" dirty="0" err="1">
                <a:solidFill>
                  <a:srgbClr val="1E5B4D"/>
                </a:solidFill>
                <a:latin typeface="Calibri"/>
              </a:rPr>
              <a:t>comparar</a:t>
            </a:r>
            <a:r>
              <a:rPr sz="1400" b="0" i="1" dirty="0">
                <a:solidFill>
                  <a:srgbClr val="1E5B4D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E5B4D"/>
                </a:solidFill>
                <a:latin typeface="Calibri"/>
              </a:rPr>
              <a:t>campañas</a:t>
            </a:r>
            <a:r>
              <a:rPr sz="1400" b="0" i="1" dirty="0">
                <a:solidFill>
                  <a:srgbClr val="1E5B4D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E5B4D"/>
                </a:solidFill>
                <a:latin typeface="Calibri"/>
              </a:rPr>
              <a:t>históricas</a:t>
            </a:r>
            <a:endParaRPr sz="1400" b="0" i="1" dirty="0">
              <a:solidFill>
                <a:srgbClr val="1E5B4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2000"/>
            <a:ext cx="11274552" cy="720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600" b="1" i="0" dirty="0">
                <a:solidFill>
                  <a:srgbClr val="1E5B4D"/>
                </a:solidFill>
                <a:latin typeface="Calibri"/>
              </a:rPr>
              <a:t>El frontend ·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Streamlit</a:t>
            </a:r>
            <a:endParaRPr sz="3600" b="1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600200"/>
            <a:ext cx="8388000" cy="443455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 i="0" dirty="0">
                <a:solidFill>
                  <a:srgbClr val="2B2B2B"/>
                </a:solidFill>
                <a:latin typeface="Calibri"/>
              </a:rPr>
              <a:t>App web </a:t>
            </a:r>
            <a:r>
              <a:rPr sz="2200" b="0" i="0" dirty="0" err="1">
                <a:solidFill>
                  <a:srgbClr val="2B2B2B"/>
                </a:solidFill>
                <a:latin typeface="Calibri"/>
              </a:rPr>
              <a:t>conectada</a:t>
            </a:r>
            <a:r>
              <a:rPr sz="2200" b="0" i="0" dirty="0">
                <a:solidFill>
                  <a:srgbClr val="2B2B2B"/>
                </a:solidFill>
                <a:latin typeface="Calibri"/>
              </a:rPr>
              <a:t> al pipeline real. El </a:t>
            </a:r>
            <a:r>
              <a:rPr sz="2200" b="0" i="0" dirty="0" err="1">
                <a:solidFill>
                  <a:srgbClr val="2B2B2B"/>
                </a:solidFill>
                <a:latin typeface="Calibri"/>
              </a:rPr>
              <a:t>flujo</a:t>
            </a:r>
            <a:r>
              <a:rPr sz="2200" b="0" i="0" dirty="0">
                <a:solidFill>
                  <a:srgbClr val="2B2B2B"/>
                </a:solidFill>
                <a:latin typeface="Calibri"/>
              </a:rPr>
              <a:t> es de </a:t>
            </a:r>
            <a:r>
              <a:rPr sz="2200" b="0" i="0" dirty="0" err="1">
                <a:solidFill>
                  <a:srgbClr val="2B2B2B"/>
                </a:solidFill>
                <a:latin typeface="Calibri"/>
              </a:rPr>
              <a:t>tres</a:t>
            </a:r>
            <a:r>
              <a:rPr sz="2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2B2B2B"/>
                </a:solidFill>
                <a:latin typeface="Calibri"/>
              </a:rPr>
              <a:t>clics</a:t>
            </a:r>
            <a:r>
              <a:rPr sz="2200" b="0" i="0" dirty="0">
                <a:solidFill>
                  <a:srgbClr val="2B2B2B"/>
                </a:solidFill>
                <a:latin typeface="Calibri"/>
              </a:rPr>
              <a:t>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6035040" cy="731520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 rot="5400000">
            <a:off x="804671" y="2761488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4143" y="2626891"/>
            <a:ext cx="6480000" cy="415498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 dirty="0">
                <a:solidFill>
                  <a:srgbClr val="1E5B4D"/>
                </a:solidFill>
                <a:latin typeface="Calibri"/>
              </a:rPr>
              <a:t>1 · 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Sube un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vídeo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.mp4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6480000" cy="730800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sosceles Triangle 7"/>
          <p:cNvSpPr/>
          <p:nvPr/>
        </p:nvSpPr>
        <p:spPr>
          <a:xfrm rot="5400000">
            <a:off x="804671" y="3630168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5026" y="3506457"/>
            <a:ext cx="5349240" cy="415498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 dirty="0">
                <a:solidFill>
                  <a:srgbClr val="1E5B4D"/>
                </a:solidFill>
                <a:latin typeface="Calibri"/>
              </a:rPr>
              <a:t>2 ·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Pulsa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«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Analizar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40"/>
            <a:ext cx="6035040" cy="731520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04671" y="4498848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5913" y="4369145"/>
            <a:ext cx="6480000" cy="414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 dirty="0">
                <a:solidFill>
                  <a:srgbClr val="1E5B4D"/>
                </a:solidFill>
                <a:latin typeface="Calibri"/>
              </a:rPr>
              <a:t>3 ·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Obtén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tiempos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, %,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recortes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y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vídeo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anotado</a:t>
            </a:r>
            <a:endParaRPr sz="2200" b="0" i="0" dirty="0">
              <a:solidFill>
                <a:srgbClr val="1E5B4D"/>
              </a:solidFill>
              <a:latin typeface="Calibri"/>
            </a:endParaRPr>
          </a:p>
        </p:txBody>
      </p:sp>
      <p:pic>
        <p:nvPicPr>
          <p:cNvPr id="13" name="Picture 12" descr="frame_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000" y="905062"/>
            <a:ext cx="3308400" cy="588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49793" y="39189"/>
            <a:ext cx="3308400" cy="815608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/>
            <a:r>
              <a:rPr sz="2400" b="0" i="1" dirty="0" err="1">
                <a:solidFill>
                  <a:srgbClr val="6B7280"/>
                </a:solidFill>
                <a:latin typeface="Calibri"/>
              </a:rPr>
              <a:t>vídeo</a:t>
            </a:r>
            <a:r>
              <a:rPr sz="2400" b="0" i="1" dirty="0">
                <a:solidFill>
                  <a:srgbClr val="6B7280"/>
                </a:solidFill>
                <a:latin typeface="Calibri"/>
              </a:rPr>
              <a:t> de </a:t>
            </a:r>
            <a:r>
              <a:rPr sz="2400" b="0" i="1" dirty="0" err="1">
                <a:solidFill>
                  <a:srgbClr val="6B7280"/>
                </a:solidFill>
                <a:latin typeface="Calibri"/>
              </a:rPr>
              <a:t>prueba</a:t>
            </a:r>
            <a:r>
              <a:rPr sz="2400" b="0" i="1" dirty="0">
                <a:solidFill>
                  <a:srgbClr val="6B7280"/>
                </a:solidFill>
                <a:latin typeface="Calibri"/>
              </a:rPr>
              <a:t> real (vertical 1080×1920)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2000"/>
            <a:ext cx="11274552" cy="612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600" b="1" i="0" dirty="0">
                <a:solidFill>
                  <a:srgbClr val="1E5B4D"/>
                </a:solidFill>
                <a:latin typeface="Calibri"/>
              </a:rPr>
              <a:t>Demo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en</a:t>
            </a:r>
            <a:r>
              <a:rPr sz="3600" b="1" i="0" dirty="0">
                <a:solidFill>
                  <a:srgbClr val="1E5B4D"/>
                </a:solidFill>
                <a:latin typeface="Calibri"/>
              </a:rPr>
              <a:t> vivo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" y="1554480"/>
            <a:ext cx="6480000" cy="603504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 rot="5400000">
            <a:off x="401900" y="1783079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229" y="1648483"/>
            <a:ext cx="5760000" cy="360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 dirty="0">
                <a:solidFill>
                  <a:srgbClr val="1E5B4D"/>
                </a:solidFill>
                <a:latin typeface="Calibri"/>
              </a:rPr>
              <a:t>1 · 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Pantalla de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inicio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→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subir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vídeo</a:t>
            </a:r>
            <a:endParaRPr sz="2200" b="0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000" y="2304288"/>
            <a:ext cx="6480000" cy="603504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 rot="5400000">
            <a:off x="401900" y="2532888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229" y="2398291"/>
            <a:ext cx="5760000" cy="360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 dirty="0">
                <a:solidFill>
                  <a:srgbClr val="1E5B4D"/>
                </a:solidFill>
                <a:latin typeface="Calibri"/>
              </a:rPr>
              <a:t>2 · 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Pulsar «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Analizar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» (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modelo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frame a frame)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" y="3054096"/>
            <a:ext cx="6480000" cy="603504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 rot="5400000">
            <a:off x="401900" y="3282696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229" y="3148099"/>
            <a:ext cx="5760000" cy="360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 dirty="0">
                <a:solidFill>
                  <a:srgbClr val="1E5B4D"/>
                </a:solidFill>
                <a:latin typeface="Calibri"/>
              </a:rPr>
              <a:t>3 ·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Mostrar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el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vídeo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anotado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con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cajas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y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" y="3803904"/>
            <a:ext cx="6480000" cy="603504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5400000">
            <a:off x="401900" y="4032504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229" y="3897907"/>
            <a:ext cx="5760000" cy="360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 dirty="0">
                <a:solidFill>
                  <a:srgbClr val="1E5B4D"/>
                </a:solidFill>
                <a:latin typeface="Calibri"/>
              </a:rPr>
              <a:t>4 ·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Resumen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por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marca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: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segundos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, % y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recortes</a:t>
            </a:r>
            <a:endParaRPr sz="2200" b="0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2000" y="4553712"/>
            <a:ext cx="6480000" cy="603504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 rot="5400000">
            <a:off x="401900" y="4782312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229" y="4663495"/>
            <a:ext cx="5760000" cy="360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 dirty="0">
                <a:solidFill>
                  <a:srgbClr val="1E5B4D"/>
                </a:solidFill>
                <a:latin typeface="Calibri"/>
              </a:rPr>
              <a:t>5 · 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Queda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guardado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en</a:t>
            </a:r>
            <a:r>
              <a:rPr sz="2200" b="0" i="0" dirty="0">
                <a:solidFill>
                  <a:srgbClr val="1E5B4D"/>
                </a:solidFill>
                <a:latin typeface="Calibri"/>
              </a:rPr>
              <a:t> la BD para </a:t>
            </a:r>
            <a:r>
              <a:rPr sz="2200" b="0" i="0" dirty="0" err="1">
                <a:solidFill>
                  <a:srgbClr val="1E5B4D"/>
                </a:solidFill>
                <a:latin typeface="Calibri"/>
              </a:rPr>
              <a:t>reconsultar</a:t>
            </a:r>
            <a:endParaRPr sz="2200" b="0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660000" y="1188000"/>
            <a:ext cx="5441532" cy="47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E5B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19121" y="1343473"/>
            <a:ext cx="4975115" cy="449034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 i="0" dirty="0" err="1">
                <a:solidFill>
                  <a:srgbClr val="1E5B4D"/>
                </a:solidFill>
                <a:latin typeface="Calibri"/>
              </a:rPr>
              <a:t>Resultado</a:t>
            </a:r>
            <a:r>
              <a:rPr sz="2400" b="1" i="0" dirty="0">
                <a:solidFill>
                  <a:srgbClr val="1E5B4D"/>
                </a:solidFill>
                <a:latin typeface="Calibri"/>
              </a:rPr>
              <a:t> real — test_1brands.mp4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5263" y="1861714"/>
            <a:ext cx="4522832" cy="418063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0" i="0" dirty="0" err="1">
                <a:solidFill>
                  <a:srgbClr val="6B7280"/>
                </a:solidFill>
                <a:latin typeface="Calibri"/>
              </a:rPr>
              <a:t>Duración</a:t>
            </a:r>
            <a:r>
              <a:rPr sz="2200" b="0" i="0" dirty="0">
                <a:solidFill>
                  <a:srgbClr val="6B7280"/>
                </a:solidFill>
                <a:latin typeface="Calibri"/>
              </a:rPr>
              <a:t> 15.2 s · 30 fps · 455 frames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19121" y="2483604"/>
            <a:ext cx="4923291" cy="953565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5240">
            <a:solidFill>
              <a:srgbClr val="2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919121" y="3540818"/>
            <a:ext cx="4923291" cy="953565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5240">
            <a:solidFill>
              <a:srgbClr val="E87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919121" y="4598031"/>
            <a:ext cx="4923291" cy="953565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5240">
            <a:solidFill>
              <a:srgbClr val="1E7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E85AC8E-6BCE-25B8-89D6-CD45C39E2E83}"/>
              </a:ext>
            </a:extLst>
          </p:cNvPr>
          <p:cNvGrpSpPr/>
          <p:nvPr/>
        </p:nvGrpSpPr>
        <p:grpSpPr>
          <a:xfrm>
            <a:off x="7074593" y="2575154"/>
            <a:ext cx="4664170" cy="2914252"/>
            <a:chOff x="7074593" y="2575154"/>
            <a:chExt cx="4664170" cy="2914252"/>
          </a:xfrm>
        </p:grpSpPr>
        <p:sp>
          <p:nvSpPr>
            <p:cNvPr id="22" name="TextBox 21"/>
            <p:cNvSpPr txBox="1"/>
            <p:nvPr/>
          </p:nvSpPr>
          <p:spPr>
            <a:xfrm>
              <a:off x="7074593" y="2595882"/>
              <a:ext cx="1658372" cy="418063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1" i="0">
                  <a:solidFill>
                    <a:srgbClr val="2E6FE0"/>
                  </a:solidFill>
                  <a:latin typeface="Calibri"/>
                </a:rPr>
                <a:t>ADIDAS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629316" y="2575154"/>
              <a:ext cx="1857881" cy="418063"/>
            </a:xfrm>
            <a:prstGeom prst="rect">
              <a:avLst/>
            </a:prstGeom>
            <a:noFill/>
          </p:spPr>
          <p:txBody>
            <a:bodyPr wrap="none" lIns="76200" tIns="38100" rIns="76200" bIns="38100" anchor="ctr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1" i="0">
                  <a:solidFill>
                    <a:srgbClr val="2B2B2B"/>
                  </a:solidFill>
                  <a:latin typeface="Calibri"/>
                </a:rPr>
                <a:t>15.1 s  </a:t>
              </a:r>
              <a:r>
                <a:rPr sz="2200" b="1" i="0">
                  <a:solidFill>
                    <a:srgbClr val="2E6FE0"/>
                  </a:solidFill>
                  <a:latin typeface="Calibri"/>
                </a:rPr>
                <a:t>99.3 %</a:t>
              </a:r>
              <a:r>
                <a:rPr lang="es-ES" sz="2200" b="1" i="0" dirty="0">
                  <a:solidFill>
                    <a:srgbClr val="2E6FE0"/>
                  </a:solidFill>
                  <a:latin typeface="Calibri"/>
                </a:rPr>
                <a:t>º</a:t>
              </a:r>
              <a:endParaRPr sz="2200" b="1" i="0" dirty="0">
                <a:solidFill>
                  <a:srgbClr val="2E6FE0"/>
                </a:solidFill>
                <a:latin typeface="Calibri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74593" y="2960387"/>
              <a:ext cx="4664170" cy="414593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0" i="0" dirty="0">
                  <a:solidFill>
                    <a:srgbClr val="6B7280"/>
                  </a:solidFill>
                  <a:latin typeface="Calibri"/>
                </a:rPr>
                <a:t>1 </a:t>
              </a:r>
              <a:r>
                <a:rPr sz="2200" b="0" i="0" dirty="0" err="1">
                  <a:solidFill>
                    <a:srgbClr val="6B7280"/>
                  </a:solidFill>
                  <a:latin typeface="Calibri"/>
                </a:rPr>
                <a:t>aparición</a:t>
              </a:r>
              <a:r>
                <a:rPr sz="2200" b="0" i="0" dirty="0">
                  <a:solidFill>
                    <a:srgbClr val="6B7280"/>
                  </a:solidFill>
                  <a:latin typeface="Calibri"/>
                </a:rPr>
                <a:t> · conf 76.3%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074593" y="3653096"/>
              <a:ext cx="1658372" cy="418063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1" i="0">
                  <a:solidFill>
                    <a:srgbClr val="E8761E"/>
                  </a:solidFill>
                  <a:latin typeface="Calibri"/>
                </a:rPr>
                <a:t>PUMA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629316" y="3632366"/>
              <a:ext cx="1734449" cy="418063"/>
            </a:xfrm>
            <a:prstGeom prst="rect">
              <a:avLst/>
            </a:prstGeom>
            <a:noFill/>
          </p:spPr>
          <p:txBody>
            <a:bodyPr wrap="none" lIns="76200" tIns="38100" rIns="76200" bIns="38100" anchor="ctr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1" i="0">
                  <a:solidFill>
                    <a:srgbClr val="2B2B2B"/>
                  </a:solidFill>
                  <a:latin typeface="Calibri"/>
                </a:rPr>
                <a:t>13.5 s  </a:t>
              </a:r>
              <a:r>
                <a:rPr sz="2200" b="1" i="0">
                  <a:solidFill>
                    <a:srgbClr val="E8761E"/>
                  </a:solidFill>
                  <a:latin typeface="Calibri"/>
                </a:rPr>
                <a:t>88.8 %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74593" y="4017600"/>
              <a:ext cx="4664170" cy="414593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0" i="0">
                  <a:solidFill>
                    <a:srgbClr val="6B7280"/>
                  </a:solidFill>
                  <a:latin typeface="Calibri"/>
                </a:rPr>
                <a:t>2 apariciones · conf 75.5%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074593" y="4710309"/>
              <a:ext cx="1658372" cy="418063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1" i="0">
                  <a:solidFill>
                    <a:srgbClr val="1E7A40"/>
                  </a:solidFill>
                  <a:latin typeface="Calibri"/>
                </a:rPr>
                <a:t>NIKE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629316" y="4689579"/>
              <a:ext cx="1734449" cy="418063"/>
            </a:xfrm>
            <a:prstGeom prst="rect">
              <a:avLst/>
            </a:prstGeom>
            <a:noFill/>
          </p:spPr>
          <p:txBody>
            <a:bodyPr wrap="none" lIns="76200" tIns="38100" rIns="76200" bIns="38100" anchor="ctr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1" i="0">
                  <a:solidFill>
                    <a:srgbClr val="2B2B2B"/>
                  </a:solidFill>
                  <a:latin typeface="Calibri"/>
                </a:rPr>
                <a:t>11.9 s  </a:t>
              </a:r>
              <a:r>
                <a:rPr sz="2200" b="1" i="0">
                  <a:solidFill>
                    <a:srgbClr val="1E7A40"/>
                  </a:solidFill>
                  <a:latin typeface="Calibri"/>
                </a:rPr>
                <a:t>78.7 %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074593" y="5074813"/>
              <a:ext cx="4664170" cy="414593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2200" b="0" i="0">
                  <a:solidFill>
                    <a:srgbClr val="6B7280"/>
                  </a:solidFill>
                  <a:latin typeface="Calibri"/>
                </a:rPr>
                <a:t>2 apariciones · conf 73.8%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40080" y="5989320"/>
            <a:ext cx="5669280" cy="4572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1">
                <a:solidFill>
                  <a:srgbClr val="E8761E"/>
                </a:solidFill>
                <a:latin typeface="Calibri"/>
              </a:rPr>
              <a:t>💡 Ten un resultado ya cacheado por si el procesado tarda en directo.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2000"/>
            <a:ext cx="11274552" cy="720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600" b="1" i="0" dirty="0">
                <a:solidFill>
                  <a:srgbClr val="1E5B4D"/>
                </a:solidFill>
                <a:latin typeface="Calibri"/>
              </a:rPr>
              <a:t>Ingeniería y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calidad</a:t>
            </a:r>
            <a:endParaRPr sz="3600" b="1" i="0" dirty="0">
              <a:solidFill>
                <a:srgbClr val="1E5B4D"/>
              </a:solidFill>
              <a:latin typeface="Calibri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C398206-6369-F86A-7465-9A1A337115B0}"/>
              </a:ext>
            </a:extLst>
          </p:cNvPr>
          <p:cNvGrpSpPr/>
          <p:nvPr/>
        </p:nvGrpSpPr>
        <p:grpSpPr>
          <a:xfrm>
            <a:off x="640080" y="1600200"/>
            <a:ext cx="10835640" cy="4611268"/>
            <a:chOff x="640080" y="1600200"/>
            <a:chExt cx="10835640" cy="4611268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645920"/>
              <a:ext cx="566928" cy="566928"/>
            </a:xfrm>
            <a:prstGeom prst="roundRect">
              <a:avLst>
                <a:gd name="adj" fmla="val 30000"/>
              </a:avLst>
            </a:prstGeom>
            <a:solidFill>
              <a:srgbClr val="1E5B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00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40080" y="1658349"/>
              <a:ext cx="566928" cy="542071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ctr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 dirty="0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417320" y="1600200"/>
              <a:ext cx="10058400" cy="542071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 dirty="0" err="1">
                  <a:solidFill>
                    <a:srgbClr val="1E5B4D"/>
                  </a:solidFill>
                  <a:latin typeface="Calibri"/>
                </a:rPr>
                <a:t>Arquitectura</a:t>
              </a:r>
              <a:r>
                <a:rPr sz="3000" b="1" i="0" dirty="0">
                  <a:solidFill>
                    <a:srgbClr val="1E5B4D"/>
                  </a:solidFill>
                  <a:latin typeface="Calibri"/>
                </a:rPr>
                <a:t> modular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17320" y="2029968"/>
              <a:ext cx="10058400" cy="542071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3000" b="0" i="0" dirty="0" err="1">
                  <a:solidFill>
                    <a:srgbClr val="2B2B2B"/>
                  </a:solidFill>
                  <a:latin typeface="Calibri"/>
                </a:rPr>
                <a:t>configuración</a:t>
              </a:r>
              <a:r>
                <a:rPr sz="3000" b="0" i="0" dirty="0">
                  <a:solidFill>
                    <a:srgbClr val="2B2B2B"/>
                  </a:solidFill>
                  <a:latin typeface="Calibri"/>
                </a:rPr>
                <a:t> </a:t>
              </a:r>
              <a:r>
                <a:rPr sz="3000" b="0" i="0" dirty="0" err="1">
                  <a:solidFill>
                    <a:srgbClr val="2B2B2B"/>
                  </a:solidFill>
                  <a:latin typeface="Calibri"/>
                </a:rPr>
                <a:t>centralizada</a:t>
              </a:r>
              <a:r>
                <a:rPr sz="3000" b="0" i="0" dirty="0">
                  <a:solidFill>
                    <a:srgbClr val="2B2B2B"/>
                  </a:solidFill>
                  <a:latin typeface="Calibri"/>
                </a:rPr>
                <a:t> </a:t>
              </a:r>
              <a:r>
                <a:rPr sz="3000" b="0" i="0" dirty="0" err="1">
                  <a:solidFill>
                    <a:srgbClr val="2B2B2B"/>
                  </a:solidFill>
                  <a:latin typeface="Calibri"/>
                </a:rPr>
                <a:t>en</a:t>
              </a:r>
              <a:r>
                <a:rPr sz="3000" b="0" i="0" dirty="0">
                  <a:solidFill>
                    <a:srgbClr val="2B2B2B"/>
                  </a:solidFill>
                  <a:latin typeface="Calibri"/>
                </a:rPr>
                <a:t> config.py, sin </a:t>
              </a:r>
              <a:r>
                <a:rPr sz="3000" b="0" i="0" dirty="0" err="1">
                  <a:solidFill>
                    <a:srgbClr val="2B2B2B"/>
                  </a:solidFill>
                  <a:latin typeface="Calibri"/>
                </a:rPr>
                <a:t>rutas</a:t>
              </a:r>
              <a:r>
                <a:rPr sz="3000" b="0" i="0" dirty="0">
                  <a:solidFill>
                    <a:srgbClr val="2B2B2B"/>
                  </a:solidFill>
                  <a:latin typeface="Calibri"/>
                </a:rPr>
                <a:t> </a:t>
              </a:r>
              <a:r>
                <a:rPr sz="3000" b="0" i="0" dirty="0" err="1">
                  <a:solidFill>
                    <a:srgbClr val="2B2B2B"/>
                  </a:solidFill>
                  <a:latin typeface="Calibri"/>
                </a:rPr>
                <a:t>hardcodeadas</a:t>
              </a:r>
              <a:endParaRPr sz="3000" b="0" i="0" dirty="0">
                <a:solidFill>
                  <a:srgbClr val="2B2B2B"/>
                </a:solidFill>
                <a:latin typeface="Calibri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2697480"/>
              <a:ext cx="566928" cy="566928"/>
            </a:xfrm>
            <a:prstGeom prst="roundRect">
              <a:avLst>
                <a:gd name="adj" fmla="val 30000"/>
              </a:avLst>
            </a:prstGeom>
            <a:solidFill>
              <a:srgbClr val="1E5B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0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" y="2709909"/>
              <a:ext cx="566928" cy="542071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ctr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17320" y="2651760"/>
              <a:ext cx="10058400" cy="542071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>
                  <a:solidFill>
                    <a:srgbClr val="1E5B4D"/>
                  </a:solidFill>
                  <a:latin typeface="Calibri"/>
                </a:rPr>
                <a:t>20 tests unitarios (pytest)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17320" y="3081528"/>
              <a:ext cx="10058400" cy="542071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3000" b="0" i="0">
                  <a:solidFill>
                    <a:srgbClr val="2B2B2B"/>
                  </a:solidFill>
                  <a:latin typeface="Calibri"/>
                </a:rPr>
                <a:t>cubren tracker, informe y base de datos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40080" y="3749039"/>
              <a:ext cx="566928" cy="566928"/>
            </a:xfrm>
            <a:prstGeom prst="roundRect">
              <a:avLst>
                <a:gd name="adj" fmla="val 30000"/>
              </a:avLst>
            </a:prstGeom>
            <a:solidFill>
              <a:srgbClr val="1E5B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0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0080" y="3761468"/>
              <a:ext cx="566928" cy="542071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ctr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17320" y="3703320"/>
              <a:ext cx="10058400" cy="542071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>
                  <a:solidFill>
                    <a:srgbClr val="1E5B4D"/>
                  </a:solidFill>
                  <a:latin typeface="Calibri"/>
                </a:rPr>
                <a:t>Flujo Git profesional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17320" y="4133087"/>
              <a:ext cx="10058400" cy="542071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3000" b="0" i="0">
                  <a:solidFill>
                    <a:srgbClr val="2B2B2B"/>
                  </a:solidFill>
                  <a:latin typeface="Calibri"/>
                </a:rPr>
                <a:t>ramas por feature, pull requests y tablero Kanban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40080" y="4800600"/>
              <a:ext cx="566928" cy="566928"/>
            </a:xfrm>
            <a:prstGeom prst="roundRect">
              <a:avLst>
                <a:gd name="adj" fmla="val 30000"/>
              </a:avLst>
            </a:prstGeom>
            <a:solidFill>
              <a:srgbClr val="1E5B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0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0080" y="4813029"/>
              <a:ext cx="566928" cy="542071"/>
            </a:xfrm>
            <a:prstGeom prst="rect">
              <a:avLst/>
            </a:prstGeom>
            <a:noFill/>
          </p:spPr>
          <p:txBody>
            <a:bodyPr wrap="square" lIns="76200" tIns="38100" rIns="76200" bIns="38100" anchor="ctr">
              <a:spAutoFit/>
            </a:bodyPr>
            <a:lstStyle/>
            <a:p>
              <a:pPr algn="ctr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417320" y="4754880"/>
              <a:ext cx="10058400" cy="542071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3000" b="1" i="0">
                  <a:solidFill>
                    <a:srgbClr val="1E5B4D"/>
                  </a:solidFill>
                  <a:latin typeface="Calibri"/>
                </a:rPr>
                <a:t>Stack moderno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17320" y="5184648"/>
              <a:ext cx="10058400" cy="1026820"/>
            </a:xfrm>
            <a:prstGeom prst="rect">
              <a:avLst/>
            </a:prstGeom>
            <a:noFill/>
          </p:spPr>
          <p:txBody>
            <a:bodyPr wrap="square" lIns="76200" tIns="38100" rIns="76200" bIns="38100" anchor="t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</a:pPr>
              <a:r>
                <a:rPr sz="3000" b="0" i="0">
                  <a:solidFill>
                    <a:srgbClr val="2B2B2B"/>
                  </a:solidFill>
                  <a:latin typeface="Calibri"/>
                </a:rPr>
                <a:t>Python 3.11, uv, Ultralytics YOLOv8, OpenCV, Pandas, Streamlit, SQLite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2000"/>
            <a:ext cx="11274552" cy="720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600" b="1" i="0" dirty="0" err="1">
                <a:solidFill>
                  <a:srgbClr val="1E5B4D"/>
                </a:solidFill>
                <a:latin typeface="Calibri"/>
              </a:rPr>
              <a:t>Retos</a:t>
            </a:r>
            <a:r>
              <a:rPr sz="3600" b="1" i="0" dirty="0">
                <a:solidFill>
                  <a:srgbClr val="1E5B4D"/>
                </a:solidFill>
                <a:latin typeface="Calibri"/>
              </a:rPr>
              <a:t> y </a:t>
            </a:r>
            <a:r>
              <a:rPr sz="3600" b="1" i="0" dirty="0" err="1">
                <a:solidFill>
                  <a:srgbClr val="1E5B4D"/>
                </a:solidFill>
                <a:latin typeface="Calibri"/>
              </a:rPr>
              <a:t>futuro</a:t>
            </a:r>
            <a:endParaRPr sz="3600" b="1" i="0" dirty="0">
              <a:solidFill>
                <a:srgbClr val="1E5B4D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920240"/>
            <a:ext cx="10908792" cy="1554480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 rot="5400000">
            <a:off x="822960" y="2624328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9966960" cy="155448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 err="1">
                <a:solidFill>
                  <a:srgbClr val="1E5B4D"/>
                </a:solidFill>
                <a:latin typeface="Calibri"/>
              </a:rPr>
              <a:t>Retos</a:t>
            </a:r>
            <a:r>
              <a:rPr sz="2400" b="1" i="0" dirty="0">
                <a:solidFill>
                  <a:srgbClr val="1E5B4D"/>
                </a:solidFill>
                <a:latin typeface="Calibri"/>
              </a:rPr>
              <a:t>:  </a:t>
            </a:r>
            <a:r>
              <a:rPr sz="2400" b="0" i="0" dirty="0" err="1">
                <a:solidFill>
                  <a:srgbClr val="1E5B4D"/>
                </a:solidFill>
                <a:latin typeface="Calibri"/>
              </a:rPr>
              <a:t>etiquetado</a:t>
            </a:r>
            <a:r>
              <a:rPr sz="2400" b="0" i="0" dirty="0">
                <a:solidFill>
                  <a:srgbClr val="1E5B4D"/>
                </a:solidFill>
                <a:latin typeface="Calibri"/>
              </a:rPr>
              <a:t> del dataset (manual y </a:t>
            </a:r>
            <a:r>
              <a:rPr sz="2400" b="0" i="0" dirty="0" err="1">
                <a:solidFill>
                  <a:srgbClr val="1E5B4D"/>
                </a:solidFill>
                <a:latin typeface="Calibri"/>
              </a:rPr>
              <a:t>minucioso</a:t>
            </a:r>
            <a:r>
              <a:rPr sz="2400" b="0" i="0" dirty="0">
                <a:solidFill>
                  <a:srgbClr val="1E5B4D"/>
                </a:solidFill>
                <a:latin typeface="Calibri"/>
              </a:rPr>
              <a:t>), </a:t>
            </a:r>
            <a:r>
              <a:rPr sz="2400" b="0" i="0" dirty="0" err="1">
                <a:solidFill>
                  <a:srgbClr val="1E5B4D"/>
                </a:solidFill>
                <a:latin typeface="Calibri"/>
              </a:rPr>
              <a:t>equilibrio</a:t>
            </a:r>
            <a:r>
              <a:rPr sz="24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1E5B4D"/>
                </a:solidFill>
                <a:latin typeface="Calibri"/>
              </a:rPr>
              <a:t>velocidad</a:t>
            </a:r>
            <a:r>
              <a:rPr sz="2400" b="0" i="0" dirty="0">
                <a:solidFill>
                  <a:srgbClr val="1E5B4D"/>
                </a:solidFill>
                <a:latin typeface="Calibri"/>
              </a:rPr>
              <a:t>/</a:t>
            </a:r>
            <a:r>
              <a:rPr sz="2400" b="0" i="0" dirty="0" err="1">
                <a:solidFill>
                  <a:srgbClr val="1E5B4D"/>
                </a:solidFill>
                <a:latin typeface="Calibri"/>
              </a:rPr>
              <a:t>precisión</a:t>
            </a:r>
            <a:r>
              <a:rPr sz="2400" b="0" i="0" dirty="0">
                <a:solidFill>
                  <a:srgbClr val="1E5B4D"/>
                </a:solidFill>
                <a:latin typeface="Calibri"/>
              </a:rPr>
              <a:t> con </a:t>
            </a:r>
            <a:r>
              <a:rPr sz="2400" b="0" i="0" dirty="0" err="1">
                <a:solidFill>
                  <a:srgbClr val="1E5B4D"/>
                </a:solidFill>
                <a:latin typeface="Calibri"/>
              </a:rPr>
              <a:t>el</a:t>
            </a:r>
            <a:r>
              <a:rPr sz="2400" b="0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1E5B4D"/>
                </a:solidFill>
                <a:latin typeface="Calibri"/>
              </a:rPr>
              <a:t>salto</a:t>
            </a:r>
            <a:r>
              <a:rPr sz="2400" b="0" i="0" dirty="0">
                <a:solidFill>
                  <a:srgbClr val="1E5B4D"/>
                </a:solidFill>
                <a:latin typeface="Calibri"/>
              </a:rPr>
              <a:t> de frames, y </a:t>
            </a:r>
            <a:r>
              <a:rPr sz="2400" b="0" i="0" dirty="0" err="1">
                <a:solidFill>
                  <a:srgbClr val="1E5B4D"/>
                </a:solidFill>
                <a:latin typeface="Calibri"/>
              </a:rPr>
              <a:t>afinar</a:t>
            </a:r>
            <a:r>
              <a:rPr sz="2400" b="0" i="0" dirty="0">
                <a:solidFill>
                  <a:srgbClr val="1E5B4D"/>
                </a:solidFill>
                <a:latin typeface="Calibri"/>
              </a:rPr>
              <a:t> la </a:t>
            </a:r>
            <a:r>
              <a:rPr sz="2400" b="0" i="0" dirty="0" err="1">
                <a:solidFill>
                  <a:srgbClr val="1E5B4D"/>
                </a:solidFill>
                <a:latin typeface="Calibri"/>
              </a:rPr>
              <a:t>medición</a:t>
            </a:r>
            <a:r>
              <a:rPr sz="2400" b="0" i="0" dirty="0">
                <a:solidFill>
                  <a:srgbClr val="1E5B4D"/>
                </a:solidFill>
                <a:latin typeface="Calibri"/>
              </a:rPr>
              <a:t> de </a:t>
            </a:r>
            <a:r>
              <a:rPr sz="2400" b="0" i="0" dirty="0" err="1">
                <a:solidFill>
                  <a:srgbClr val="1E5B4D"/>
                </a:solidFill>
                <a:latin typeface="Calibri"/>
              </a:rPr>
              <a:t>tiempo</a:t>
            </a:r>
            <a:r>
              <a:rPr sz="2400" b="0" i="0" dirty="0">
                <a:solidFill>
                  <a:srgbClr val="1E5B4D"/>
                </a:solidFill>
                <a:latin typeface="Calibri"/>
              </a:rPr>
              <a:t> real con </a:t>
            </a:r>
            <a:r>
              <a:rPr sz="2400" b="0" i="0" dirty="0" err="1">
                <a:solidFill>
                  <a:srgbClr val="1E5B4D"/>
                </a:solidFill>
                <a:latin typeface="Calibri"/>
              </a:rPr>
              <a:t>el</a:t>
            </a:r>
            <a:r>
              <a:rPr sz="2400" b="0" i="0" dirty="0">
                <a:solidFill>
                  <a:srgbClr val="1E5B4D"/>
                </a:solidFill>
                <a:latin typeface="Calibri"/>
              </a:rPr>
              <a:t> tracker.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10908792" cy="1554480"/>
          </a:xfrm>
          <a:prstGeom prst="roundRect">
            <a:avLst>
              <a:gd name="adj" fmla="val 50000"/>
            </a:avLst>
          </a:prstGeom>
          <a:solidFill>
            <a:srgbClr val="F6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 rot="5400000">
            <a:off x="822960" y="4636007"/>
            <a:ext cx="146304" cy="146304"/>
          </a:xfrm>
          <a:prstGeom prst="triangle">
            <a:avLst/>
          </a:prstGeom>
          <a:solidFill>
            <a:srgbClr val="E87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3931920"/>
            <a:ext cx="9966960" cy="155448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E5B4D"/>
                </a:solidFill>
                <a:latin typeface="Calibri"/>
              </a:rPr>
              <a:t>Futuro:  </a:t>
            </a:r>
            <a:r>
              <a:rPr sz="2400" b="0" i="0">
                <a:solidFill>
                  <a:srgbClr val="1E5B4D"/>
                </a:solidFill>
                <a:latin typeface="Calibri"/>
              </a:rPr>
              <a:t>soporte de más marcas, análisis de vídeo en streaming en directo y un dashboard comparativo de campañas.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2000"/>
            <a:ext cx="10332720" cy="146304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 i="0" dirty="0" err="1">
                <a:solidFill>
                  <a:srgbClr val="1E5B4D"/>
                </a:solidFill>
                <a:latin typeface="Calibri"/>
              </a:rPr>
              <a:t>BrandVision</a:t>
            </a:r>
            <a:r>
              <a:rPr sz="4000" b="1" i="0" dirty="0">
                <a:solidFill>
                  <a:srgbClr val="1E5B4D"/>
                </a:solidFill>
                <a:latin typeface="Calibri"/>
              </a:rPr>
              <a:t> — </a:t>
            </a:r>
            <a:r>
              <a:rPr sz="4000" b="1" i="0" dirty="0" err="1">
                <a:solidFill>
                  <a:srgbClr val="1E5B4D"/>
                </a:solidFill>
                <a:latin typeface="Calibri"/>
              </a:rPr>
              <a:t>cada</a:t>
            </a:r>
            <a:r>
              <a:rPr sz="4000" b="1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1E5B4D"/>
                </a:solidFill>
                <a:latin typeface="Calibri"/>
              </a:rPr>
              <a:t>segundo</a:t>
            </a:r>
            <a:r>
              <a:rPr sz="4000" b="1" i="0" dirty="0">
                <a:solidFill>
                  <a:srgbClr val="1E5B4D"/>
                </a:solidFill>
                <a:latin typeface="Calibri"/>
              </a:rPr>
              <a:t> de </a:t>
            </a:r>
            <a:r>
              <a:rPr sz="4000" b="1" i="0" dirty="0" err="1">
                <a:solidFill>
                  <a:srgbClr val="1E5B4D"/>
                </a:solidFill>
                <a:latin typeface="Calibri"/>
              </a:rPr>
              <a:t>tu</a:t>
            </a:r>
            <a:r>
              <a:rPr sz="4000" b="1" i="0" dirty="0">
                <a:solidFill>
                  <a:srgbClr val="1E5B4D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1E5B4D"/>
                </a:solidFill>
                <a:latin typeface="Calibri"/>
              </a:rPr>
              <a:t>marca</a:t>
            </a:r>
            <a:r>
              <a:rPr sz="4000" b="1" i="0" dirty="0">
                <a:solidFill>
                  <a:srgbClr val="1E5B4D"/>
                </a:solidFill>
                <a:latin typeface="Calibri"/>
              </a:rPr>
              <a:t>, </a:t>
            </a:r>
            <a:r>
              <a:rPr sz="4000" b="1" i="0" dirty="0" err="1">
                <a:solidFill>
                  <a:srgbClr val="1E5B4D"/>
                </a:solidFill>
                <a:latin typeface="Calibri"/>
              </a:rPr>
              <a:t>medido</a:t>
            </a:r>
            <a:r>
              <a:rPr sz="4000" b="1" i="0" dirty="0">
                <a:solidFill>
                  <a:srgbClr val="1E5B4D"/>
                </a:solidFill>
                <a:latin typeface="Calibri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9640" y="1604552"/>
            <a:ext cx="10332720" cy="73152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 dirty="0">
                <a:solidFill>
                  <a:srgbClr val="E8761E"/>
                </a:solidFill>
                <a:latin typeface="Calibri"/>
              </a:rPr>
              <a:t>Gracias · ¿</a:t>
            </a:r>
            <a:r>
              <a:rPr sz="2200" b="1" i="0" dirty="0" err="1">
                <a:solidFill>
                  <a:srgbClr val="E8761E"/>
                </a:solidFill>
                <a:latin typeface="Calibri"/>
              </a:rPr>
              <a:t>Preguntas</a:t>
            </a:r>
            <a:r>
              <a:rPr sz="2200" b="1" i="0" dirty="0">
                <a:solidFill>
                  <a:srgbClr val="E8761E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29839"/>
            <a:ext cx="11274552" cy="2051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 dirty="0" err="1">
                <a:solidFill>
                  <a:srgbClr val="1E5B4D"/>
                </a:solidFill>
                <a:latin typeface="Calibri"/>
              </a:rPr>
              <a:t>Repositorio</a:t>
            </a:r>
            <a:r>
              <a:rPr sz="2400" b="1" i="0" dirty="0">
                <a:solidFill>
                  <a:srgbClr val="1E5B4D"/>
                </a:solidFill>
                <a:latin typeface="Calibri"/>
              </a:rPr>
              <a:t>  —  </a:t>
            </a:r>
            <a:r>
              <a:rPr lang="es-ES" sz="2400" b="0" i="0" dirty="0">
                <a:solidFill>
                  <a:srgbClr val="2C7A68"/>
                </a:solidFill>
                <a:latin typeface="Calibri"/>
              </a:rPr>
              <a:t> https://github.com</a:t>
            </a:r>
            <a:r>
              <a:rPr sz="2400" b="0" i="0" dirty="0">
                <a:solidFill>
                  <a:srgbClr val="2C7A68"/>
                </a:solidFill>
                <a:latin typeface="Calibri"/>
              </a:rPr>
              <a:t>/Bootcamp-IA-P6/P11E4</a:t>
            </a:r>
          </a:p>
          <a:p>
            <a:pPr algn="ctr">
              <a:spcAft>
                <a:spcPts val="400"/>
              </a:spcAft>
            </a:pPr>
            <a:r>
              <a:rPr sz="2400" b="1" i="0" dirty="0" err="1">
                <a:solidFill>
                  <a:srgbClr val="1E5B4D"/>
                </a:solidFill>
                <a:latin typeface="Calibri"/>
              </a:rPr>
              <a:t>Documentación</a:t>
            </a:r>
            <a:r>
              <a:rPr sz="2400" b="1" i="0" dirty="0">
                <a:solidFill>
                  <a:srgbClr val="1E5B4D"/>
                </a:solidFill>
                <a:latin typeface="Calibri"/>
              </a:rPr>
              <a:t> (README)  —  </a:t>
            </a:r>
            <a:r>
              <a:rPr lang="es-ES" sz="2400" b="0" i="0" dirty="0">
                <a:solidFill>
                  <a:srgbClr val="2C7A68"/>
                </a:solidFill>
                <a:latin typeface="Calibri"/>
              </a:rPr>
              <a:t> https://github.com</a:t>
            </a:r>
            <a:r>
              <a:rPr sz="2400" b="0" i="0" dirty="0">
                <a:solidFill>
                  <a:srgbClr val="2C7A68"/>
                </a:solidFill>
                <a:latin typeface="Calibri"/>
              </a:rPr>
              <a:t>/Bootcamp-IA-P6/P11E4#readme</a:t>
            </a:r>
          </a:p>
          <a:p>
            <a:pPr algn="ctr">
              <a:spcAft>
                <a:spcPts val="400"/>
              </a:spcAft>
            </a:pPr>
            <a:r>
              <a:rPr sz="2400" b="1" i="0" dirty="0">
                <a:solidFill>
                  <a:srgbClr val="1E5B4D"/>
                </a:solidFill>
                <a:latin typeface="Calibri"/>
              </a:rPr>
              <a:t>Kanban (Project #69)  —  </a:t>
            </a:r>
            <a:r>
              <a:rPr lang="es-ES" sz="2400" b="0" i="0" dirty="0">
                <a:solidFill>
                  <a:srgbClr val="2C7A68"/>
                </a:solidFill>
                <a:latin typeface="Calibri"/>
              </a:rPr>
              <a:t> https://github.com</a:t>
            </a:r>
            <a:r>
              <a:rPr sz="2400" b="0" i="0" dirty="0">
                <a:solidFill>
                  <a:srgbClr val="2C7A68"/>
                </a:solidFill>
                <a:latin typeface="Calibri"/>
              </a:rPr>
              <a:t>/orgs/Bootcamp-IA-P6/projects/69</a:t>
            </a:r>
          </a:p>
          <a:p>
            <a:pPr algn="ctr">
              <a:spcAft>
                <a:spcPts val="400"/>
              </a:spcAft>
            </a:pPr>
            <a:r>
              <a:rPr sz="2400" b="1" i="0" dirty="0">
                <a:solidFill>
                  <a:srgbClr val="1E5B4D"/>
                </a:solidFill>
                <a:latin typeface="Calibri"/>
              </a:rPr>
              <a:t>Demo </a:t>
            </a:r>
            <a:r>
              <a:rPr sz="2400" b="1" i="0" dirty="0" err="1">
                <a:solidFill>
                  <a:srgbClr val="1E5B4D"/>
                </a:solidFill>
                <a:latin typeface="Calibri"/>
              </a:rPr>
              <a:t>en</a:t>
            </a:r>
            <a:r>
              <a:rPr sz="2400" b="1" i="0" dirty="0">
                <a:solidFill>
                  <a:srgbClr val="1E5B4D"/>
                </a:solidFill>
                <a:latin typeface="Calibri"/>
              </a:rPr>
              <a:t> vivo (</a:t>
            </a:r>
            <a:r>
              <a:rPr sz="2400" b="1" i="0" dirty="0" err="1">
                <a:solidFill>
                  <a:srgbClr val="1E5B4D"/>
                </a:solidFill>
                <a:latin typeface="Calibri"/>
              </a:rPr>
              <a:t>ngrok</a:t>
            </a:r>
            <a:r>
              <a:rPr sz="2400" b="1" i="0" dirty="0">
                <a:solidFill>
                  <a:srgbClr val="1E5B4D"/>
                </a:solidFill>
                <a:latin typeface="Calibri"/>
              </a:rPr>
              <a:t>)  —  </a:t>
            </a:r>
            <a:r>
              <a:rPr lang="es-ES" sz="2400" dirty="0">
                <a:solidFill>
                  <a:srgbClr val="2C7A68"/>
                </a:solidFill>
                <a:latin typeface="Calibri"/>
              </a:rPr>
              <a:t>https://</a:t>
            </a:r>
            <a:r>
              <a:rPr sz="2400" dirty="0">
                <a:solidFill>
                  <a:srgbClr val="2C7A68"/>
                </a:solidFill>
                <a:latin typeface="Calibri"/>
              </a:rPr>
              <a:t>magical-giving-</a:t>
            </a:r>
            <a:r>
              <a:rPr sz="2400" dirty="0" err="1">
                <a:solidFill>
                  <a:srgbClr val="2C7A68"/>
                </a:solidFill>
                <a:latin typeface="Calibri"/>
              </a:rPr>
              <a:t>starved</a:t>
            </a:r>
            <a:r>
              <a:rPr sz="2400" b="0" i="0" dirty="0" err="1">
                <a:solidFill>
                  <a:srgbClr val="2C7A68"/>
                </a:solidFill>
                <a:latin typeface="Calibri"/>
              </a:rPr>
              <a:t>.ngrok</a:t>
            </a:r>
            <a:r>
              <a:rPr sz="2400" b="0" i="0" dirty="0">
                <a:solidFill>
                  <a:srgbClr val="2C7A68"/>
                </a:solidFill>
                <a:latin typeface="Calibri"/>
              </a:rPr>
              <a:t>-</a:t>
            </a:r>
            <a:r>
              <a:rPr sz="2400" b="0" i="0" dirty="0" err="1">
                <a:solidFill>
                  <a:srgbClr val="2C7A68"/>
                </a:solidFill>
                <a:latin typeface="Calibri"/>
              </a:rPr>
              <a:t>free.dev</a:t>
            </a:r>
            <a:endParaRPr sz="2400" b="0" i="0" dirty="0">
              <a:solidFill>
                <a:srgbClr val="2C7A68"/>
              </a:solidFill>
              <a:latin typeface="Calibri"/>
            </a:endParaRPr>
          </a:p>
          <a:p>
            <a:pPr algn="ctr"/>
            <a:r>
              <a:rPr sz="2400" b="0" i="1" dirty="0">
                <a:solidFill>
                  <a:srgbClr val="E8761E"/>
                </a:solidFill>
                <a:latin typeface="Calibri"/>
              </a:rPr>
              <a:t>URL de </a:t>
            </a:r>
            <a:r>
              <a:rPr sz="2400" b="0" i="1" dirty="0" err="1">
                <a:solidFill>
                  <a:srgbClr val="E8761E"/>
                </a:solidFill>
                <a:latin typeface="Calibri"/>
              </a:rPr>
              <a:t>ngrok</a:t>
            </a:r>
            <a:r>
              <a:rPr sz="2400" b="0" i="1" dirty="0">
                <a:solidFill>
                  <a:srgbClr val="E8761E"/>
                </a:solidFill>
                <a:latin typeface="Calibri"/>
              </a:rPr>
              <a:t> temporal: </a:t>
            </a:r>
            <a:r>
              <a:rPr sz="2400" b="0" i="1" dirty="0" err="1">
                <a:solidFill>
                  <a:srgbClr val="E8761E"/>
                </a:solidFill>
                <a:latin typeface="Calibri"/>
              </a:rPr>
              <a:t>puede</a:t>
            </a:r>
            <a:r>
              <a:rPr sz="2400" b="0" i="1" dirty="0">
                <a:solidFill>
                  <a:srgbClr val="E8761E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E8761E"/>
                </a:solidFill>
                <a:latin typeface="Calibri"/>
              </a:rPr>
              <a:t>cambiar</a:t>
            </a:r>
            <a:r>
              <a:rPr sz="2400" b="0" i="1" dirty="0">
                <a:solidFill>
                  <a:srgbClr val="E8761E"/>
                </a:solidFill>
                <a:latin typeface="Calibri"/>
              </a:rPr>
              <a:t> </a:t>
            </a:r>
            <a:r>
              <a:rPr sz="2400" b="0" i="1" dirty="0" err="1">
                <a:solidFill>
                  <a:srgbClr val="E8761E"/>
                </a:solidFill>
                <a:latin typeface="Calibri"/>
              </a:rPr>
              <a:t>el</a:t>
            </a:r>
            <a:r>
              <a:rPr sz="2400" b="0" i="1" dirty="0">
                <a:solidFill>
                  <a:srgbClr val="E8761E"/>
                </a:solidFill>
                <a:latin typeface="Calibri"/>
              </a:rPr>
              <a:t> día de la </a:t>
            </a:r>
            <a:r>
              <a:rPr sz="2400" b="0" i="1" dirty="0" err="1">
                <a:solidFill>
                  <a:srgbClr val="E8761E"/>
                </a:solidFill>
                <a:latin typeface="Calibri"/>
              </a:rPr>
              <a:t>presentación</a:t>
            </a:r>
            <a:r>
              <a:rPr sz="2400" b="0" i="1" dirty="0">
                <a:solidFill>
                  <a:srgbClr val="E8761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1219</TotalTime>
  <Words>1147</Words>
  <Application>Microsoft Office PowerPoint</Application>
  <PresentationFormat>Panorámica</PresentationFormat>
  <Paragraphs>146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 Julio Ramírez Sánchez-Escobar</cp:lastModifiedBy>
  <cp:revision>19</cp:revision>
  <dcterms:created xsi:type="dcterms:W3CDTF">2013-01-27T09:14:16Z</dcterms:created>
  <dcterms:modified xsi:type="dcterms:W3CDTF">2026-06-27T20:50:55Z</dcterms:modified>
  <cp:category/>
</cp:coreProperties>
</file>